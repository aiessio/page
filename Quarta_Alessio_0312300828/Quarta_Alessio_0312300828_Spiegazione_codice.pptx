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CF546-91EF-0711-E6D3-A169E0BC5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C67F86-2F21-51DF-D5DF-28A6763DC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18FB23-34F3-5379-1BA8-D9E23EA6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C692FB-FC6A-C56F-2DF5-D4AD498D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B39AB4-A0A1-A415-02B0-1B193DAA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071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1A6D02-E069-68A1-BEDB-E140F444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CDC71A-DC06-B2AB-7E0F-3FF661C8D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1A8570-1E79-8437-1791-8CAB9E40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F85E52-5B3D-593A-F359-148C630D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EB3E67-5375-B16A-10C4-EF4467D1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17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700933-FBD4-A257-CFB3-FFED3068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20C779-08E6-14F2-BA1F-B390BB280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FF2819-1CD3-0EF3-1C60-B5E553E6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1C2CBF-E032-F235-87FD-8ED490F8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112C10-6506-94A1-D4FE-01DA512C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328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EA21B9-19C1-36A8-3B24-7C086BCD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879EC8-C6EE-F6F1-5C4B-E06ED3E18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4E092B-A1CB-4442-0E2D-34BFE8BF9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B16CB7D-A1FD-B0D0-559A-64744699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3163DA-AA22-27D6-A82E-F9355001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F318F35-EE8E-594B-A8D6-6CCEFDD0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53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05440-E6DB-C8CA-C949-1B625C135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0DF3AB-2412-D80D-55B7-E090C8A35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6F5D8F2-007D-4770-A6F2-9AF3C9060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182292F-6842-5AB4-BBFF-305857DE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504F697-5148-67E6-7C97-EC4D4FC9A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8D7F742-6725-4628-966B-CC1EDBA9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04445E6-4718-8F58-EACB-220F5730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A4EE0FD-AF24-58C7-DC5A-00240BDD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695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55270-8E05-67C8-04F1-674B8F85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FDF27B9-584E-57EA-CD6D-ADE46CFA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44BD58-6D31-447D-CB6F-217B896E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080231B-B41A-9807-3EC3-5E698E47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877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C71838F-67B9-D35D-91AD-BF17B46E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97E8AA2-B6EE-9FC2-58AC-96D12370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6E130A-205E-C403-41E0-66A29146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082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CF4F83-7B6D-3BFB-51E0-C625393F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2143A2-5B65-B5CE-0126-6049784E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99BB85F-A784-1EAD-483D-9E9B6B6F8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605A2C-CF0A-F146-9C9B-96DB235F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D688CA-2F50-4E9D-E780-7D8B2057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F893F0-0301-DB8C-FB6B-0E5FD404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983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7B592F-DBF9-9A9E-1C24-DC50D145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109E1F1-A45C-6720-3574-EDDC662DC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A9D6EDB-5B8C-F69C-ADDE-E9A3481D1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8652F90-D2E1-9FA0-E512-BFB91825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3CF7FD-823E-1279-B7E5-651E86DA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BDBCBDD-A225-A1C0-094B-CD69106A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12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C8CDC-22C2-B12F-3617-056AA877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3073901-6D89-DD5C-8D8C-19247E60D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72C7EA-23C6-B0A9-F8A7-D9F7CF5F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CC4B9E-BA3D-00C8-EBB4-4980F2D3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1F7E96-F55D-C3A0-DC69-C2F9F606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755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AD632D7-4911-119E-914E-A66CE99E3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0F2DBEB-3E09-B0D7-B2CE-CB2A09969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AC3A26-2EF8-6A21-2B93-C98F1E61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D5BA8D-9BCF-0252-5272-4490E8B6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CF6A51-F9C1-707B-FF0E-1D9F1B07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23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962062F-C178-8178-D738-34F6F50C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38F6C4-553F-194B-09C6-79544174E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3742B1-447C-17FD-3950-621C8D2F7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603BF-6505-4406-8E55-8A7896EAFFA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CE7A6E-4685-F2B3-0C9B-B5E3D8E08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5A0CAE-A758-99B8-BC7E-1C8BB4752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D1FF-04A0-41C0-AD33-5CF00862FA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90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FE7EDDF-6991-29EB-E64A-AAE8AC433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458789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C724332-C4F4-E478-4ADD-77D48E3C0385}"/>
              </a:ext>
            </a:extLst>
          </p:cNvPr>
          <p:cNvSpPr txBox="1"/>
          <p:nvPr/>
        </p:nvSpPr>
        <p:spPr>
          <a:xfrm>
            <a:off x="6096000" y="0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&lt;!DOCTYPE html&gt;, &lt;html lang="it"&gt;: </a:t>
            </a:r>
            <a:r>
              <a:rPr lang="en-GB" dirty="0" err="1"/>
              <a:t>Informiamo</a:t>
            </a:r>
            <a:r>
              <a:rPr lang="en-GB" dirty="0"/>
              <a:t> il browser 		</a:t>
            </a:r>
            <a:r>
              <a:rPr lang="en-GB" dirty="0" err="1"/>
              <a:t>che</a:t>
            </a:r>
            <a:r>
              <a:rPr lang="en-GB" dirty="0"/>
              <a:t> il </a:t>
            </a:r>
            <a:r>
              <a:rPr lang="en-GB" dirty="0" err="1"/>
              <a:t>sito</a:t>
            </a:r>
            <a:r>
              <a:rPr lang="en-GB" dirty="0"/>
              <a:t> é </a:t>
            </a:r>
            <a:r>
              <a:rPr lang="en-GB" dirty="0" err="1"/>
              <a:t>scritto</a:t>
            </a:r>
            <a:r>
              <a:rPr lang="en-GB" dirty="0"/>
              <a:t> in HTML e la lingua 			</a:t>
            </a:r>
            <a:r>
              <a:rPr lang="en-GB" dirty="0" err="1"/>
              <a:t>utilizzata</a:t>
            </a:r>
            <a:r>
              <a:rPr lang="en-GB" dirty="0"/>
              <a:t> é </a:t>
            </a:r>
            <a:r>
              <a:rPr lang="en-GB" dirty="0" err="1"/>
              <a:t>quella</a:t>
            </a:r>
            <a:r>
              <a:rPr lang="en-GB" dirty="0"/>
              <a:t> </a:t>
            </a:r>
            <a:r>
              <a:rPr lang="en-GB" dirty="0" err="1"/>
              <a:t>italiana</a:t>
            </a:r>
            <a:r>
              <a:rPr lang="en-GB" dirty="0"/>
              <a:t>.</a:t>
            </a:r>
          </a:p>
          <a:p>
            <a:r>
              <a:rPr lang="en-GB" b="1" i="1" u="sng" dirty="0"/>
              <a:t>Head:</a:t>
            </a:r>
            <a:r>
              <a:rPr lang="en-GB" dirty="0"/>
              <a:t> qui </a:t>
            </a:r>
            <a:r>
              <a:rPr lang="en-GB" dirty="0" err="1"/>
              <a:t>inseriamo</a:t>
            </a:r>
            <a:r>
              <a:rPr lang="en-GB" dirty="0"/>
              <a:t> le </a:t>
            </a:r>
            <a:r>
              <a:rPr lang="en-GB" dirty="0" err="1"/>
              <a:t>informazioni</a:t>
            </a:r>
            <a:r>
              <a:rPr lang="en-GB" dirty="0"/>
              <a:t> </a:t>
            </a:r>
            <a:r>
              <a:rPr lang="en-GB" dirty="0" err="1"/>
              <a:t>tecniche</a:t>
            </a:r>
            <a:r>
              <a:rPr lang="en-GB" dirty="0"/>
              <a:t> della </a:t>
            </a:r>
            <a:r>
              <a:rPr lang="en-GB" dirty="0" err="1"/>
              <a:t>pagina</a:t>
            </a:r>
            <a:r>
              <a:rPr lang="en-GB" dirty="0"/>
              <a:t>. 	(</a:t>
            </a:r>
            <a:r>
              <a:rPr lang="en-GB" dirty="0" err="1"/>
              <a:t>titolo</a:t>
            </a:r>
            <a:r>
              <a:rPr lang="en-GB" dirty="0"/>
              <a:t>, </a:t>
            </a:r>
            <a:r>
              <a:rPr lang="en-GB" dirty="0" err="1"/>
              <a:t>caratteri</a:t>
            </a:r>
            <a:r>
              <a:rPr lang="en-GB" dirty="0"/>
              <a:t>).</a:t>
            </a:r>
          </a:p>
          <a:p>
            <a:r>
              <a:rPr lang="en-US" b="1" i="1" u="sng" dirty="0"/>
              <a:t>&lt;meta charset="UTF-8" /&gt;, &lt;meta name="viewport" content="width=device-width, initial-scale=1.0" /&gt;</a:t>
            </a:r>
            <a:r>
              <a:rPr lang="en-GB" b="1" i="1" u="sng" dirty="0"/>
              <a:t>: </a:t>
            </a:r>
            <a:r>
              <a:rPr lang="en-GB" dirty="0" err="1"/>
              <a:t>Permette</a:t>
            </a:r>
            <a:r>
              <a:rPr lang="en-GB" dirty="0"/>
              <a:t> 	alla </a:t>
            </a:r>
            <a:r>
              <a:rPr lang="en-GB" dirty="0" err="1"/>
              <a:t>pagina</a:t>
            </a:r>
            <a:r>
              <a:rPr lang="en-GB" dirty="0"/>
              <a:t> di </a:t>
            </a:r>
            <a:r>
              <a:rPr lang="en-GB" dirty="0" err="1"/>
              <a:t>adattarsi</a:t>
            </a:r>
            <a:r>
              <a:rPr lang="en-GB" dirty="0"/>
              <a:t> a dispositive mobile e la 	</a:t>
            </a:r>
            <a:r>
              <a:rPr lang="en-GB" dirty="0" err="1"/>
              <a:t>corretta</a:t>
            </a:r>
            <a:r>
              <a:rPr lang="en-GB" dirty="0"/>
              <a:t> </a:t>
            </a:r>
            <a:r>
              <a:rPr lang="en-GB" dirty="0" err="1"/>
              <a:t>visualizzazione</a:t>
            </a:r>
            <a:r>
              <a:rPr lang="en-GB" dirty="0"/>
              <a:t> di </a:t>
            </a:r>
            <a:r>
              <a:rPr lang="en-GB" dirty="0" err="1"/>
              <a:t>caratteri</a:t>
            </a:r>
            <a:r>
              <a:rPr lang="en-GB" dirty="0"/>
              <a:t> </a:t>
            </a:r>
            <a:r>
              <a:rPr lang="en-GB" dirty="0" err="1"/>
              <a:t>speciali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Titolo della </a:t>
            </a:r>
            <a:r>
              <a:rPr lang="en-GB" dirty="0" err="1"/>
              <a:t>pagina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i="1" u="sng" dirty="0"/>
              <a:t>Style:</a:t>
            </a:r>
            <a:r>
              <a:rPr lang="en-GB" dirty="0"/>
              <a:t> </a:t>
            </a:r>
            <a:r>
              <a:rPr lang="en-GB" dirty="0" err="1"/>
              <a:t>inizio</a:t>
            </a:r>
            <a:r>
              <a:rPr lang="en-GB" dirty="0"/>
              <a:t> del CSS, </a:t>
            </a:r>
            <a:r>
              <a:rPr lang="en-GB" dirty="0" err="1"/>
              <a:t>modifica</a:t>
            </a:r>
            <a:r>
              <a:rPr lang="en-GB" dirty="0"/>
              <a:t> la </a:t>
            </a:r>
            <a:r>
              <a:rPr lang="en-GB" dirty="0" err="1"/>
              <a:t>grafica</a:t>
            </a:r>
            <a:r>
              <a:rPr lang="en-GB" dirty="0"/>
              <a:t> del </a:t>
            </a:r>
            <a:r>
              <a:rPr lang="en-GB" dirty="0" err="1"/>
              <a:t>sito</a:t>
            </a:r>
            <a:r>
              <a:rPr lang="en-GB" dirty="0"/>
              <a:t>.</a:t>
            </a:r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C072FC0A-CE63-2DA9-4DFA-4880AC4A2F3F}"/>
              </a:ext>
            </a:extLst>
          </p:cNvPr>
          <p:cNvSpPr/>
          <p:nvPr/>
        </p:nvSpPr>
        <p:spPr>
          <a:xfrm rot="5400000">
            <a:off x="1239270" y="3372254"/>
            <a:ext cx="611371" cy="2148841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EDDE1CDB-A0BF-9DAA-3CB4-7DCFCED79C64}"/>
              </a:ext>
            </a:extLst>
          </p:cNvPr>
          <p:cNvCxnSpPr>
            <a:cxnSpLocks/>
          </p:cNvCxnSpPr>
          <p:nvPr/>
        </p:nvCxnSpPr>
        <p:spPr>
          <a:xfrm>
            <a:off x="2619376" y="2486352"/>
            <a:ext cx="3404234" cy="423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D38CDE3E-8BBF-3290-E463-53E0E35B3E83}"/>
              </a:ext>
            </a:extLst>
          </p:cNvPr>
          <p:cNvSpPr/>
          <p:nvPr/>
        </p:nvSpPr>
        <p:spPr>
          <a:xfrm>
            <a:off x="5623560" y="1299210"/>
            <a:ext cx="400050" cy="74295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926C3E2A-6A9B-5C4A-336E-8BA1B7760049}"/>
              </a:ext>
            </a:extLst>
          </p:cNvPr>
          <p:cNvCxnSpPr>
            <a:cxnSpLocks/>
          </p:cNvCxnSpPr>
          <p:nvPr/>
        </p:nvCxnSpPr>
        <p:spPr>
          <a:xfrm flipV="1">
            <a:off x="742950" y="1055370"/>
            <a:ext cx="5280660" cy="328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0074348-56F3-096A-0012-15F66AC2E68D}"/>
              </a:ext>
            </a:extLst>
          </p:cNvPr>
          <p:cNvSpPr txBox="1"/>
          <p:nvPr/>
        </p:nvSpPr>
        <p:spPr>
          <a:xfrm>
            <a:off x="95250" y="4780562"/>
            <a:ext cx="313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Rimuove</a:t>
            </a:r>
            <a:r>
              <a:rPr lang="en-GB" dirty="0"/>
              <a:t> </a:t>
            </a:r>
            <a:r>
              <a:rPr lang="en-GB" dirty="0" err="1"/>
              <a:t>eventuali</a:t>
            </a:r>
            <a:r>
              <a:rPr lang="en-GB" dirty="0"/>
              <a:t> </a:t>
            </a:r>
            <a:r>
              <a:rPr lang="en-GB" dirty="0" err="1"/>
              <a:t>spaziature</a:t>
            </a:r>
            <a:r>
              <a:rPr lang="en-GB" dirty="0"/>
              <a:t> della </a:t>
            </a:r>
            <a:r>
              <a:rPr lang="en-GB" dirty="0" err="1"/>
              <a:t>pagina</a:t>
            </a:r>
            <a:r>
              <a:rPr lang="en-GB" dirty="0"/>
              <a:t> del browser in </a:t>
            </a:r>
            <a:r>
              <a:rPr lang="en-GB" dirty="0" err="1"/>
              <a:t>uso</a:t>
            </a:r>
            <a:endParaRPr lang="it-IT" dirty="0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6BF2221-5771-69D6-8D75-917DE386D65E}"/>
              </a:ext>
            </a:extLst>
          </p:cNvPr>
          <p:cNvCxnSpPr>
            <a:cxnSpLocks/>
          </p:cNvCxnSpPr>
          <p:nvPr/>
        </p:nvCxnSpPr>
        <p:spPr>
          <a:xfrm>
            <a:off x="996950" y="2938099"/>
            <a:ext cx="5026660" cy="748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Parentesi quadra chiusa 15">
            <a:extLst>
              <a:ext uri="{FF2B5EF4-FFF2-40B4-BE49-F238E27FC236}">
                <a16:creationId xmlns:a16="http://schemas.microsoft.com/office/drawing/2014/main" id="{834B87AF-7983-A6AB-F852-A7A43260B799}"/>
              </a:ext>
            </a:extLst>
          </p:cNvPr>
          <p:cNvSpPr/>
          <p:nvPr/>
        </p:nvSpPr>
        <p:spPr>
          <a:xfrm>
            <a:off x="1403350" y="482600"/>
            <a:ext cx="133350" cy="641350"/>
          </a:xfrm>
          <a:prstGeom prst="rightBracke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250C94F-41AC-57CD-B532-5179C555C640}"/>
              </a:ext>
            </a:extLst>
          </p:cNvPr>
          <p:cNvCxnSpPr>
            <a:cxnSpLocks/>
          </p:cNvCxnSpPr>
          <p:nvPr/>
        </p:nvCxnSpPr>
        <p:spPr>
          <a:xfrm flipV="1">
            <a:off x="1609090" y="330200"/>
            <a:ext cx="4414520" cy="423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15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AC539BF-524F-A729-6AF5-188F5FCDB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22414" cy="6858000"/>
          </a:xfrm>
          <a:prstGeom prst="rect">
            <a:avLst/>
          </a:prstGeom>
        </p:spPr>
      </p:pic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8AFCFCCE-A5BE-4E52-656E-342F788D2126}"/>
              </a:ext>
            </a:extLst>
          </p:cNvPr>
          <p:cNvSpPr/>
          <p:nvPr/>
        </p:nvSpPr>
        <p:spPr>
          <a:xfrm>
            <a:off x="3177540" y="373380"/>
            <a:ext cx="544874" cy="118872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D951160-C3C8-BC6B-7550-DFCC92F8D219}"/>
              </a:ext>
            </a:extLst>
          </p:cNvPr>
          <p:cNvSpPr txBox="1"/>
          <p:nvPr/>
        </p:nvSpPr>
        <p:spPr>
          <a:xfrm>
            <a:off x="3802380" y="0"/>
            <a:ext cx="838962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b="1" i="1" u="sng" dirty="0"/>
              <a:t>Body: </a:t>
            </a:r>
            <a:r>
              <a:rPr lang="en-GB" dirty="0" err="1"/>
              <a:t>Impostazione</a:t>
            </a:r>
            <a:r>
              <a:rPr lang="en-GB" dirty="0"/>
              <a:t> </a:t>
            </a:r>
            <a:r>
              <a:rPr lang="en-GB" dirty="0" err="1"/>
              <a:t>dello</a:t>
            </a:r>
            <a:r>
              <a:rPr lang="en-GB" dirty="0"/>
              <a:t> stile generale del </a:t>
            </a:r>
            <a:r>
              <a:rPr lang="en-GB" dirty="0" err="1"/>
              <a:t>sito</a:t>
            </a:r>
            <a:r>
              <a:rPr lang="en-GB" dirty="0"/>
              <a:t>.</a:t>
            </a:r>
          </a:p>
          <a:p>
            <a:r>
              <a:rPr lang="en-GB" dirty="0"/>
              <a:t>	Font </a:t>
            </a:r>
            <a:r>
              <a:rPr lang="en-GB" dirty="0" err="1"/>
              <a:t>principale</a:t>
            </a:r>
            <a:r>
              <a:rPr lang="en-GB" dirty="0"/>
              <a:t> </a:t>
            </a:r>
            <a:r>
              <a:rPr lang="en-GB" dirty="0" err="1"/>
              <a:t>utilizzato</a:t>
            </a:r>
            <a:r>
              <a:rPr lang="en-GB" dirty="0"/>
              <a:t> é l’ </a:t>
            </a:r>
            <a:r>
              <a:rPr lang="en-GB" i="1" dirty="0"/>
              <a:t>“Arial”. </a:t>
            </a:r>
            <a:r>
              <a:rPr lang="en-GB" dirty="0"/>
              <a:t>Se il browser non </a:t>
            </a:r>
            <a:r>
              <a:rPr lang="en-GB" dirty="0" err="1"/>
              <a:t>riesce</a:t>
            </a:r>
            <a:r>
              <a:rPr lang="en-GB" dirty="0"/>
              <a:t> ad </a:t>
            </a:r>
            <a:r>
              <a:rPr lang="en-GB" dirty="0" err="1"/>
              <a:t>utilizzare</a:t>
            </a:r>
            <a:r>
              <a:rPr lang="en-GB" dirty="0"/>
              <a:t> Arial, 	</a:t>
            </a:r>
            <a:r>
              <a:rPr lang="en-GB" dirty="0" err="1"/>
              <a:t>passa</a:t>
            </a:r>
            <a:r>
              <a:rPr lang="en-GB" dirty="0"/>
              <a:t> a </a:t>
            </a:r>
            <a:r>
              <a:rPr lang="en-GB" i="1" dirty="0"/>
              <a:t>“sans-serif”, </a:t>
            </a:r>
            <a:r>
              <a:rPr lang="en-GB" dirty="0"/>
              <a:t>un font </a:t>
            </a:r>
            <a:r>
              <a:rPr lang="en-GB" dirty="0" err="1"/>
              <a:t>piú</a:t>
            </a:r>
            <a:r>
              <a:rPr lang="en-GB" dirty="0"/>
              <a:t> classico.</a:t>
            </a:r>
          </a:p>
          <a:p>
            <a:r>
              <a:rPr lang="en-GB" dirty="0"/>
              <a:t>	Poi </a:t>
            </a:r>
            <a:r>
              <a:rPr lang="en-GB" dirty="0" err="1"/>
              <a:t>specifica</a:t>
            </a:r>
            <a:r>
              <a:rPr lang="en-GB" dirty="0"/>
              <a:t> il </a:t>
            </a:r>
            <a:r>
              <a:rPr lang="en-GB" dirty="0" err="1"/>
              <a:t>colore</a:t>
            </a:r>
            <a:r>
              <a:rPr lang="en-GB" dirty="0"/>
              <a:t> </a:t>
            </a:r>
            <a:r>
              <a:rPr lang="en-GB" dirty="0" err="1"/>
              <a:t>dello</a:t>
            </a:r>
            <a:r>
              <a:rPr lang="en-GB" dirty="0"/>
              <a:t> </a:t>
            </a:r>
            <a:r>
              <a:rPr lang="en-GB" dirty="0" err="1"/>
              <a:t>sfondo</a:t>
            </a:r>
            <a:r>
              <a:rPr lang="en-GB" dirty="0"/>
              <a:t>, </a:t>
            </a:r>
            <a:r>
              <a:rPr lang="en-GB" dirty="0" err="1"/>
              <a:t>colore</a:t>
            </a:r>
            <a:r>
              <a:rPr lang="en-GB" dirty="0"/>
              <a:t> del carattere della </a:t>
            </a:r>
            <a:r>
              <a:rPr lang="en-GB" dirty="0" err="1"/>
              <a:t>pagina</a:t>
            </a:r>
            <a:r>
              <a:rPr lang="en-GB" dirty="0"/>
              <a:t> e la 	</a:t>
            </a:r>
            <a:r>
              <a:rPr lang="en-GB" dirty="0" err="1"/>
              <a:t>spaziatura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le </a:t>
            </a:r>
            <a:r>
              <a:rPr lang="en-GB" dirty="0" err="1"/>
              <a:t>righe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i="1" u="sng" dirty="0"/>
              <a:t>Page container: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imposta</a:t>
            </a:r>
            <a:r>
              <a:rPr lang="en-GB" dirty="0"/>
              <a:t> la </a:t>
            </a:r>
            <a:r>
              <a:rPr lang="en-GB" dirty="0" err="1"/>
              <a:t>larghezza</a:t>
            </a:r>
            <a:r>
              <a:rPr lang="en-GB" dirty="0"/>
              <a:t> </a:t>
            </a:r>
            <a:r>
              <a:rPr lang="en-GB" dirty="0" err="1"/>
              <a:t>massima</a:t>
            </a:r>
            <a:r>
              <a:rPr lang="en-GB" dirty="0"/>
              <a:t> del </a:t>
            </a:r>
            <a:r>
              <a:rPr lang="en-GB" dirty="0" err="1"/>
              <a:t>contenuto</a:t>
            </a:r>
            <a:r>
              <a:rPr lang="en-GB" dirty="0"/>
              <a:t> della </a:t>
            </a:r>
            <a:r>
              <a:rPr lang="en-GB" dirty="0" err="1"/>
              <a:t>pagina</a:t>
            </a:r>
            <a:r>
              <a:rPr lang="en-GB" dirty="0"/>
              <a:t>, centra 	</a:t>
            </a:r>
            <a:r>
              <a:rPr lang="en-GB" dirty="0" err="1"/>
              <a:t>orizzontalmente</a:t>
            </a:r>
            <a:r>
              <a:rPr lang="en-GB" dirty="0"/>
              <a:t> il </a:t>
            </a:r>
            <a:r>
              <a:rPr lang="en-GB" dirty="0" err="1"/>
              <a:t>contenuto</a:t>
            </a:r>
            <a:r>
              <a:rPr lang="en-GB" dirty="0"/>
              <a:t> della </a:t>
            </a:r>
            <a:r>
              <a:rPr lang="en-GB" dirty="0" err="1"/>
              <a:t>pagina</a:t>
            </a:r>
            <a:r>
              <a:rPr lang="en-GB" dirty="0"/>
              <a:t> ed </a:t>
            </a:r>
            <a:r>
              <a:rPr lang="en-GB" dirty="0" err="1"/>
              <a:t>aggiunge</a:t>
            </a:r>
            <a:r>
              <a:rPr lang="en-GB" dirty="0"/>
              <a:t> </a:t>
            </a:r>
            <a:r>
              <a:rPr lang="en-GB" dirty="0" err="1"/>
              <a:t>spazio</a:t>
            </a:r>
            <a:r>
              <a:rPr lang="en-GB" dirty="0"/>
              <a:t> </a:t>
            </a:r>
            <a:r>
              <a:rPr lang="en-GB" dirty="0" err="1"/>
              <a:t>attorno</a:t>
            </a:r>
            <a:r>
              <a:rPr lang="en-GB" dirty="0"/>
              <a:t> al box.</a:t>
            </a:r>
          </a:p>
          <a:p>
            <a:endParaRPr lang="en-GB" i="1" u="sng" dirty="0"/>
          </a:p>
          <a:p>
            <a:endParaRPr lang="en-GB" i="1" u="sng" dirty="0"/>
          </a:p>
          <a:p>
            <a:endParaRPr lang="en-GB" i="1" u="sng" dirty="0"/>
          </a:p>
          <a:p>
            <a:r>
              <a:rPr lang="en-GB" b="1" i="1" u="sng" dirty="0"/>
              <a:t>Header: </a:t>
            </a:r>
            <a:r>
              <a:rPr lang="en-GB" dirty="0"/>
              <a:t>centra il testo, </a:t>
            </a:r>
            <a:r>
              <a:rPr lang="en-GB" dirty="0" err="1"/>
              <a:t>aggiunge</a:t>
            </a:r>
            <a:r>
              <a:rPr lang="en-GB" dirty="0"/>
              <a:t> uno </a:t>
            </a:r>
            <a:r>
              <a:rPr lang="en-GB" dirty="0" err="1"/>
              <a:t>spazio</a:t>
            </a:r>
            <a:r>
              <a:rPr lang="en-GB" dirty="0"/>
              <a:t>, </a:t>
            </a:r>
            <a:r>
              <a:rPr lang="en-GB" dirty="0" err="1"/>
              <a:t>crea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linea</a:t>
            </a:r>
            <a:r>
              <a:rPr lang="en-GB" dirty="0"/>
              <a:t> di </a:t>
            </a:r>
            <a:r>
              <a:rPr lang="en-GB" dirty="0" err="1"/>
              <a:t>colore</a:t>
            </a:r>
            <a:r>
              <a:rPr lang="en-GB" dirty="0"/>
              <a:t> </a:t>
            </a:r>
            <a:r>
              <a:rPr lang="en-GB" dirty="0" err="1"/>
              <a:t>verde</a:t>
            </a:r>
            <a:r>
              <a:rPr lang="en-GB" dirty="0"/>
              <a:t> </a:t>
            </a:r>
            <a:r>
              <a:rPr lang="en-GB" dirty="0" err="1"/>
              <a:t>spessa</a:t>
            </a:r>
            <a:r>
              <a:rPr lang="en-GB" dirty="0"/>
              <a:t> 3px 	sotto </a:t>
            </a:r>
            <a:r>
              <a:rPr lang="en-GB" dirty="0" err="1"/>
              <a:t>l’header</a:t>
            </a:r>
            <a:r>
              <a:rPr lang="en-GB" dirty="0"/>
              <a:t> ed </a:t>
            </a:r>
            <a:r>
              <a:rPr lang="en-GB" dirty="0" err="1"/>
              <a:t>aggiunge</a:t>
            </a:r>
            <a:r>
              <a:rPr lang="en-GB" dirty="0"/>
              <a:t> </a:t>
            </a:r>
            <a:r>
              <a:rPr lang="en-GB" dirty="0" err="1"/>
              <a:t>spazio</a:t>
            </a:r>
            <a:r>
              <a:rPr lang="en-GB" dirty="0"/>
              <a:t> per </a:t>
            </a:r>
            <a:r>
              <a:rPr lang="en-GB" dirty="0" err="1"/>
              <a:t>separarlo</a:t>
            </a:r>
            <a:r>
              <a:rPr lang="en-GB" dirty="0"/>
              <a:t> dal resto della </a:t>
            </a:r>
            <a:r>
              <a:rPr lang="en-GB" dirty="0" err="1"/>
              <a:t>pagina</a:t>
            </a:r>
            <a:r>
              <a:rPr lang="en-GB" dirty="0"/>
              <a:t>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 err="1"/>
              <a:t>Header</a:t>
            </a:r>
            <a:r>
              <a:rPr lang="it-IT" b="1" i="1" u="sng" dirty="0"/>
              <a:t> h1: </a:t>
            </a:r>
            <a:r>
              <a:rPr lang="it-IT" dirty="0"/>
              <a:t>Imposta la dimensione del titolo a 2.4rem (il rem è un’</a:t>
            </a:r>
            <a:r>
              <a:rPr lang="it-IT" dirty="0" err="1"/>
              <a:t>unitá</a:t>
            </a:r>
            <a:r>
              <a:rPr lang="it-IT" dirty="0"/>
              <a:t> relativa alla 	dimensione del testo base). Imposta il colore , aggiunge spazio e trasforma il 	testo in maiuscolo con </a:t>
            </a:r>
            <a:r>
              <a:rPr lang="it-IT" i="1" dirty="0"/>
              <a:t>‘</a:t>
            </a:r>
            <a:r>
              <a:rPr lang="it-IT" i="1" dirty="0" err="1"/>
              <a:t>uppercase</a:t>
            </a:r>
            <a:r>
              <a:rPr lang="it-IT" i="1" dirty="0"/>
              <a:t>’.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 err="1"/>
              <a:t>Header</a:t>
            </a:r>
            <a:r>
              <a:rPr lang="it-IT" b="1" i="1" u="sng" dirty="0"/>
              <a:t> p:</a:t>
            </a:r>
            <a:r>
              <a:rPr lang="it-IT" dirty="0"/>
              <a:t> Si imposta una larghezza massima del paragrafo di 750px, viene centrato e si 	imposta la dimensione del testo a 1.05 rem (leggermente </a:t>
            </a:r>
            <a:r>
              <a:rPr lang="it-IT" dirty="0" err="1"/>
              <a:t>piú</a:t>
            </a:r>
            <a:r>
              <a:rPr lang="it-IT" dirty="0"/>
              <a:t> grande).</a:t>
            </a:r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0CBC9287-AF6D-CF9A-F4BF-81637E7557C2}"/>
              </a:ext>
            </a:extLst>
          </p:cNvPr>
          <p:cNvSpPr/>
          <p:nvPr/>
        </p:nvSpPr>
        <p:spPr>
          <a:xfrm>
            <a:off x="2865120" y="1805940"/>
            <a:ext cx="544874" cy="10668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4E2CFB0B-D64C-9E8E-21B9-F0CFCD88A6F8}"/>
              </a:ext>
            </a:extLst>
          </p:cNvPr>
          <p:cNvSpPr/>
          <p:nvPr/>
        </p:nvSpPr>
        <p:spPr>
          <a:xfrm>
            <a:off x="3177540" y="3055620"/>
            <a:ext cx="544874" cy="118872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Parentesi graffa chiusa 8">
            <a:extLst>
              <a:ext uri="{FF2B5EF4-FFF2-40B4-BE49-F238E27FC236}">
                <a16:creationId xmlns:a16="http://schemas.microsoft.com/office/drawing/2014/main" id="{B2910CA9-D2B5-C915-1ACA-7A91D817B7C7}"/>
              </a:ext>
            </a:extLst>
          </p:cNvPr>
          <p:cNvSpPr/>
          <p:nvPr/>
        </p:nvSpPr>
        <p:spPr>
          <a:xfrm>
            <a:off x="2825137" y="4366260"/>
            <a:ext cx="544874" cy="11811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F145FBDA-D7CA-FC6B-0F30-9FFA270EB72D}"/>
              </a:ext>
            </a:extLst>
          </p:cNvPr>
          <p:cNvSpPr/>
          <p:nvPr/>
        </p:nvSpPr>
        <p:spPr>
          <a:xfrm>
            <a:off x="3177540" y="5669280"/>
            <a:ext cx="544874" cy="105918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81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A84DEE3-810A-DAA8-17CF-E7E34FD36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59144" cy="6858000"/>
          </a:xfrm>
          <a:prstGeom prst="rect">
            <a:avLst/>
          </a:prstGeom>
        </p:spPr>
      </p:pic>
      <p:sp>
        <p:nvSpPr>
          <p:cNvPr id="6" name="Parentesi graffa chiusa 5">
            <a:extLst>
              <a:ext uri="{FF2B5EF4-FFF2-40B4-BE49-F238E27FC236}">
                <a16:creationId xmlns:a16="http://schemas.microsoft.com/office/drawing/2014/main" id="{C9FCA261-7E86-40A4-F901-F1DEE0C31BBE}"/>
              </a:ext>
            </a:extLst>
          </p:cNvPr>
          <p:cNvSpPr/>
          <p:nvPr/>
        </p:nvSpPr>
        <p:spPr>
          <a:xfrm>
            <a:off x="3394710" y="289560"/>
            <a:ext cx="403860" cy="140208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1F63D0EE-ED62-75D1-8A96-DC9C4EF7C3ED}"/>
              </a:ext>
            </a:extLst>
          </p:cNvPr>
          <p:cNvSpPr/>
          <p:nvPr/>
        </p:nvSpPr>
        <p:spPr>
          <a:xfrm>
            <a:off x="3192780" y="1813560"/>
            <a:ext cx="403860" cy="12192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994B051F-B511-1C50-C220-90445486CD80}"/>
              </a:ext>
            </a:extLst>
          </p:cNvPr>
          <p:cNvSpPr/>
          <p:nvPr/>
        </p:nvSpPr>
        <p:spPr>
          <a:xfrm>
            <a:off x="2788920" y="3116580"/>
            <a:ext cx="403860" cy="792481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Parentesi graffa chiusa 8">
            <a:extLst>
              <a:ext uri="{FF2B5EF4-FFF2-40B4-BE49-F238E27FC236}">
                <a16:creationId xmlns:a16="http://schemas.microsoft.com/office/drawing/2014/main" id="{8E55461B-EA5D-1B61-466E-90662B7840DC}"/>
              </a:ext>
            </a:extLst>
          </p:cNvPr>
          <p:cNvSpPr/>
          <p:nvPr/>
        </p:nvSpPr>
        <p:spPr>
          <a:xfrm>
            <a:off x="3158490" y="4145280"/>
            <a:ext cx="403860" cy="108204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7FB19374-43EB-C5E3-D2BF-80DB95EA9B4F}"/>
              </a:ext>
            </a:extLst>
          </p:cNvPr>
          <p:cNvSpPr/>
          <p:nvPr/>
        </p:nvSpPr>
        <p:spPr>
          <a:xfrm>
            <a:off x="3173067" y="6073140"/>
            <a:ext cx="403860" cy="7239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AC2DF4F-6B17-2C6F-1433-3FC30FC8C0A3}"/>
              </a:ext>
            </a:extLst>
          </p:cNvPr>
          <p:cNvCxnSpPr/>
          <p:nvPr/>
        </p:nvCxnSpPr>
        <p:spPr>
          <a:xfrm>
            <a:off x="2476500" y="5661660"/>
            <a:ext cx="8153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9209BAC-CE6C-AF0B-A415-98C6A66D3B27}"/>
              </a:ext>
            </a:extLst>
          </p:cNvPr>
          <p:cNvSpPr txBox="1"/>
          <p:nvPr/>
        </p:nvSpPr>
        <p:spPr>
          <a:xfrm>
            <a:off x="3798570" y="0"/>
            <a:ext cx="839343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i="1" u="sng" dirty="0"/>
          </a:p>
          <a:p>
            <a:endParaRPr lang="en-GB" b="1" i="1" u="sng" dirty="0"/>
          </a:p>
          <a:p>
            <a:r>
              <a:rPr lang="en-GB" b="1" i="1" u="sng" dirty="0"/>
              <a:t>Description-one:</a:t>
            </a:r>
            <a:r>
              <a:rPr lang="en-GB" i="1" u="sng" dirty="0"/>
              <a:t> </a:t>
            </a:r>
            <a:r>
              <a:rPr lang="en-GB" dirty="0" err="1"/>
              <a:t>Imposta</a:t>
            </a:r>
            <a:r>
              <a:rPr lang="en-GB" dirty="0"/>
              <a:t> lo </a:t>
            </a:r>
            <a:r>
              <a:rPr lang="en-GB" dirty="0" err="1"/>
              <a:t>sfondo</a:t>
            </a:r>
            <a:r>
              <a:rPr lang="en-GB" dirty="0"/>
              <a:t> del primo </a:t>
            </a:r>
            <a:r>
              <a:rPr lang="en-GB" dirty="0" err="1"/>
              <a:t>riquadro</a:t>
            </a:r>
            <a:r>
              <a:rPr lang="en-GB" dirty="0"/>
              <a:t> di </a:t>
            </a:r>
            <a:r>
              <a:rPr lang="en-GB" dirty="0" err="1"/>
              <a:t>bianco</a:t>
            </a:r>
            <a:r>
              <a:rPr lang="en-GB" dirty="0"/>
              <a:t> </a:t>
            </a:r>
            <a:r>
              <a:rPr lang="en-GB" i="1" dirty="0"/>
              <a:t>(white), </a:t>
            </a:r>
            <a:r>
              <a:rPr lang="en-GB" dirty="0" err="1"/>
              <a:t>aggiunge</a:t>
            </a:r>
            <a:r>
              <a:rPr lang="en-GB" dirty="0"/>
              <a:t> 		</a:t>
            </a:r>
            <a:r>
              <a:rPr lang="en-GB" dirty="0" err="1"/>
              <a:t>spazio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bordo</a:t>
            </a:r>
            <a:r>
              <a:rPr lang="en-GB" dirty="0"/>
              <a:t> e box con il testo. </a:t>
            </a:r>
            <a:r>
              <a:rPr lang="en-GB" dirty="0" err="1"/>
              <a:t>Arrotonda</a:t>
            </a:r>
            <a:r>
              <a:rPr lang="en-GB" dirty="0"/>
              <a:t> </a:t>
            </a:r>
            <a:r>
              <a:rPr lang="en-GB" dirty="0" err="1"/>
              <a:t>gli</a:t>
            </a:r>
            <a:r>
              <a:rPr lang="en-GB" dirty="0"/>
              <a:t> </a:t>
            </a:r>
            <a:r>
              <a:rPr lang="en-GB" dirty="0" err="1"/>
              <a:t>angolo</a:t>
            </a:r>
            <a:r>
              <a:rPr lang="en-GB" dirty="0"/>
              <a:t>, </a:t>
            </a:r>
            <a:r>
              <a:rPr lang="en-GB" dirty="0" err="1"/>
              <a:t>crea</a:t>
            </a:r>
            <a:r>
              <a:rPr lang="en-GB" dirty="0"/>
              <a:t> </a:t>
            </a:r>
            <a:r>
              <a:rPr lang="en-GB" dirty="0" err="1"/>
              <a:t>ombra</a:t>
            </a:r>
            <a:r>
              <a:rPr lang="en-GB" dirty="0"/>
              <a:t>, 		</a:t>
            </a:r>
            <a:r>
              <a:rPr lang="en-GB" dirty="0" err="1"/>
              <a:t>aggiunge</a:t>
            </a:r>
            <a:r>
              <a:rPr lang="en-GB" dirty="0"/>
              <a:t> </a:t>
            </a:r>
            <a:r>
              <a:rPr lang="en-GB" dirty="0" err="1"/>
              <a:t>spazio</a:t>
            </a:r>
            <a:r>
              <a:rPr lang="en-GB" dirty="0"/>
              <a:t> sotto il </a:t>
            </a:r>
            <a:r>
              <a:rPr lang="en-GB" dirty="0" err="1"/>
              <a:t>riquadro</a:t>
            </a:r>
            <a:r>
              <a:rPr lang="en-GB" dirty="0"/>
              <a:t> e lo centra.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i="1" u="sng" dirty="0" err="1"/>
              <a:t>Descriprion</a:t>
            </a:r>
            <a:r>
              <a:rPr lang="en-GB" b="1" i="1" u="sng" dirty="0"/>
              <a:t>-two:</a:t>
            </a:r>
            <a:r>
              <a:rPr lang="en-GB" dirty="0"/>
              <a:t> </a:t>
            </a:r>
            <a:r>
              <a:rPr lang="en-GB" dirty="0" err="1"/>
              <a:t>Imposta</a:t>
            </a:r>
            <a:r>
              <a:rPr lang="en-GB" dirty="0"/>
              <a:t> lo </a:t>
            </a:r>
            <a:r>
              <a:rPr lang="en-GB" dirty="0" err="1"/>
              <a:t>sfondo</a:t>
            </a:r>
            <a:r>
              <a:rPr lang="en-GB" dirty="0"/>
              <a:t> del </a:t>
            </a:r>
            <a:r>
              <a:rPr lang="en-GB" dirty="0" err="1"/>
              <a:t>riquadro</a:t>
            </a:r>
            <a:r>
              <a:rPr lang="en-GB" dirty="0"/>
              <a:t> di </a:t>
            </a:r>
            <a:r>
              <a:rPr lang="en-GB" dirty="0" err="1"/>
              <a:t>verde</a:t>
            </a:r>
            <a:r>
              <a:rPr lang="en-GB" dirty="0"/>
              <a:t> </a:t>
            </a:r>
            <a:r>
              <a:rPr lang="en-GB" dirty="0" err="1"/>
              <a:t>chiaro</a:t>
            </a:r>
            <a:r>
              <a:rPr lang="en-GB" dirty="0"/>
              <a:t> </a:t>
            </a:r>
            <a:r>
              <a:rPr lang="en-GB" i="1" dirty="0"/>
              <a:t>(</a:t>
            </a:r>
            <a:r>
              <a:rPr lang="it-IT" i="1" dirty="0"/>
              <a:t>#e8f1df, </a:t>
            </a:r>
            <a:r>
              <a:rPr lang="it-IT" dirty="0"/>
              <a:t>in 			esadecimale), aggiunge spazio tra bordo e box con il testo. 			Arrotonda gli angoli, aggiunge spazio e centra il testo.</a:t>
            </a:r>
          </a:p>
          <a:p>
            <a:endParaRPr lang="it-IT" dirty="0"/>
          </a:p>
          <a:p>
            <a:r>
              <a:rPr lang="it-IT" b="1" i="1" u="sng" dirty="0"/>
              <a:t>h2:</a:t>
            </a:r>
            <a:r>
              <a:rPr lang="it-IT" dirty="0"/>
              <a:t> I titoli sono impostati tutti di colore verde </a:t>
            </a:r>
            <a:r>
              <a:rPr lang="it-IT" i="1" dirty="0"/>
              <a:t>(#2f6b38), </a:t>
            </a:r>
            <a:r>
              <a:rPr lang="it-IT" dirty="0"/>
              <a:t>aggiunge spazio sotto al titolo 	ed imposta la dimensione del titolo a 1.8rem.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List:</a:t>
            </a:r>
            <a:r>
              <a:rPr lang="it-IT" dirty="0"/>
              <a:t> Allinea il testo della lista a sinistra, aumenta lo spazio tra le righe, aggiunge lo 	spazio sopra la lista e sposta di 25px verso destra.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List li: </a:t>
            </a:r>
            <a:r>
              <a:rPr lang="it-IT" dirty="0"/>
              <a:t>Viene aggiunto spazio sotto ogni elemento della lista.</a:t>
            </a:r>
          </a:p>
          <a:p>
            <a:endParaRPr lang="it-IT" dirty="0"/>
          </a:p>
          <a:p>
            <a:r>
              <a:rPr lang="it-IT" b="1" i="1" u="sng" dirty="0"/>
              <a:t>List strong: </a:t>
            </a:r>
            <a:r>
              <a:rPr lang="it-IT" dirty="0"/>
              <a:t>Colora di verde le parole in grassetto e rende </a:t>
            </a:r>
            <a:r>
              <a:rPr lang="it-IT" dirty="0" err="1"/>
              <a:t>piú</a:t>
            </a:r>
            <a:r>
              <a:rPr lang="it-IT" dirty="0"/>
              <a:t> grandi le parole in 	grassetto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464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859E63F-DBE0-40A8-BDF6-412307B7A555}"/>
              </a:ext>
            </a:extLst>
          </p:cNvPr>
          <p:cNvSpPr txBox="1"/>
          <p:nvPr/>
        </p:nvSpPr>
        <p:spPr>
          <a:xfrm>
            <a:off x="5227982" y="141402"/>
            <a:ext cx="696401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b="1" i="1" u="sng" dirty="0"/>
          </a:p>
          <a:p>
            <a:endParaRPr lang="it-IT" b="1" i="1" u="sng" dirty="0"/>
          </a:p>
          <a:p>
            <a:r>
              <a:rPr lang="it-IT" b="1" i="1" u="sng" dirty="0"/>
              <a:t>Report-</a:t>
            </a:r>
            <a:r>
              <a:rPr lang="it-IT" b="1" i="1" u="sng" dirty="0" err="1"/>
              <a:t>section</a:t>
            </a:r>
            <a:r>
              <a:rPr lang="it-IT" b="1" i="1" u="sng" dirty="0"/>
              <a:t>:</a:t>
            </a:r>
            <a:r>
              <a:rPr lang="it-IT" dirty="0"/>
              <a:t> imposto una griglia, che viene divisa in due per i report, 		aggiunge spazio tra i due riquadri di 35px e aggiunge 		uno spazio sotto al box.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Report-card: </a:t>
            </a:r>
            <a:r>
              <a:rPr lang="it-IT" dirty="0"/>
              <a:t>imposto il colore dello sfondo bianco </a:t>
            </a:r>
            <a:r>
              <a:rPr lang="it-IT" i="1" dirty="0"/>
              <a:t>(white), </a:t>
            </a:r>
            <a:r>
              <a:rPr lang="it-IT" dirty="0"/>
              <a:t>aggiungo uno 		spazio interno al </a:t>
            </a:r>
            <a:r>
              <a:rPr lang="it-IT" dirty="0" err="1"/>
              <a:t>riquardo</a:t>
            </a:r>
            <a:r>
              <a:rPr lang="it-IT" dirty="0"/>
              <a:t>, arrotonda i bordi, allinea il 		testo al centro del box, crea ombra, aggiunge una 		linea sopra il box di colore verde spessa 5px 			</a:t>
            </a:r>
            <a:r>
              <a:rPr lang="it-IT" i="1" dirty="0"/>
              <a:t>(#6da544), </a:t>
            </a:r>
            <a:r>
              <a:rPr lang="it-IT" dirty="0"/>
              <a:t>imposta un altezza minima del riquadro, 		imposta il testo in maniera verticale, regola lo spazio 		interno, il testo resta in alto ed il pulsante in basso.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Report-card h3: </a:t>
            </a:r>
            <a:r>
              <a:rPr lang="it-IT" dirty="0"/>
              <a:t>imposto il colore del testo di verde </a:t>
            </a:r>
            <a:r>
              <a:rPr lang="it-IT" i="1" dirty="0"/>
              <a:t>(#2f6b38), </a:t>
            </a:r>
            <a:r>
              <a:rPr lang="it-IT" dirty="0"/>
              <a:t>altezza 		del testo di 1.5rem ed aggiungo uno spazio inferiore.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Report-card p:</a:t>
            </a:r>
            <a:r>
              <a:rPr lang="it-IT" dirty="0"/>
              <a:t> imposto una spaziatura inferiore di 25px.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EC94437-D62B-6F30-C824-5C8BEE15F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27983" cy="6858000"/>
          </a:xfrm>
          <a:prstGeom prst="rect">
            <a:avLst/>
          </a:prstGeom>
        </p:spPr>
      </p:pic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595E7741-AA7A-AC33-2C53-BF40FDE9CEB6}"/>
              </a:ext>
            </a:extLst>
          </p:cNvPr>
          <p:cNvSpPr/>
          <p:nvPr/>
        </p:nvSpPr>
        <p:spPr>
          <a:xfrm>
            <a:off x="4259580" y="511810"/>
            <a:ext cx="403860" cy="138049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5700F2E5-C233-EFF9-74CB-059AFC28C19C}"/>
              </a:ext>
            </a:extLst>
          </p:cNvPr>
          <p:cNvSpPr/>
          <p:nvPr/>
        </p:nvSpPr>
        <p:spPr>
          <a:xfrm>
            <a:off x="4735830" y="2099310"/>
            <a:ext cx="403860" cy="242189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Parentesi graffa chiusa 11">
            <a:extLst>
              <a:ext uri="{FF2B5EF4-FFF2-40B4-BE49-F238E27FC236}">
                <a16:creationId xmlns:a16="http://schemas.microsoft.com/office/drawing/2014/main" id="{E6399CA1-ECA8-6C0B-8095-CBBF42A21584}"/>
              </a:ext>
            </a:extLst>
          </p:cNvPr>
          <p:cNvSpPr/>
          <p:nvPr/>
        </p:nvSpPr>
        <p:spPr>
          <a:xfrm>
            <a:off x="4262120" y="4743450"/>
            <a:ext cx="403860" cy="10287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Parentesi graffa chiusa 12">
            <a:extLst>
              <a:ext uri="{FF2B5EF4-FFF2-40B4-BE49-F238E27FC236}">
                <a16:creationId xmlns:a16="http://schemas.microsoft.com/office/drawing/2014/main" id="{9109DE81-BF7D-7EAF-9FF2-D336F9F38E82}"/>
              </a:ext>
            </a:extLst>
          </p:cNvPr>
          <p:cNvSpPr/>
          <p:nvPr/>
        </p:nvSpPr>
        <p:spPr>
          <a:xfrm>
            <a:off x="3630930" y="6127750"/>
            <a:ext cx="403860" cy="53721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56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93B4F6BE-2C80-4B77-A77C-3A1DD1052776}"/>
              </a:ext>
            </a:extLst>
          </p:cNvPr>
          <p:cNvSpPr txBox="1"/>
          <p:nvPr/>
        </p:nvSpPr>
        <p:spPr>
          <a:xfrm>
            <a:off x="3782056" y="952108"/>
            <a:ext cx="84099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u="sng" dirty="0"/>
              <a:t>Button:</a:t>
            </a:r>
            <a:r>
              <a:rPr lang="it-IT" dirty="0"/>
              <a:t> trasformo il link in un pulsante, imposto lo sfondo di colore verde </a:t>
            </a:r>
            <a:r>
              <a:rPr lang="it-IT" i="1" dirty="0"/>
              <a:t>(#2f6b38), </a:t>
            </a:r>
            <a:r>
              <a:rPr lang="it-IT" dirty="0"/>
              <a:t>	colore del testo bianco, rimuovo la sottolineatura dei link, aggiunge uno spazio 	al pulsante di 14px (sopra e sotto) e 24px (destra e sinistra), arrotondo i bordi, 	aggiungo il grassetto al testo del pulsante ed imposto a 0.2 secondi il 	cambiamento del pulsante quando passa il mouse sopra.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 err="1"/>
              <a:t>Button:hover</a:t>
            </a:r>
            <a:r>
              <a:rPr lang="it-IT" b="1" i="1" u="sng" dirty="0"/>
              <a:t> : </a:t>
            </a:r>
            <a:r>
              <a:rPr lang="it-IT" dirty="0"/>
              <a:t>cambia il colore del pulsante quando il mouse passa sopra, diventa verde 		più scuro , e sposta il pulsante verso l’alto (</a:t>
            </a:r>
            <a:r>
              <a:rPr lang="it-IT" i="1" dirty="0" err="1"/>
              <a:t>translateY</a:t>
            </a:r>
            <a:r>
              <a:rPr lang="it-IT" i="1" dirty="0"/>
              <a:t>,</a:t>
            </a:r>
            <a:r>
              <a:rPr lang="it-IT" dirty="0"/>
              <a:t> ovvero, trasla 		l’asse Y) di ‘-2px’. 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Official-site-</a:t>
            </a:r>
            <a:r>
              <a:rPr lang="it-IT" b="1" i="1" u="sng" dirty="0" err="1"/>
              <a:t>section</a:t>
            </a:r>
            <a:r>
              <a:rPr lang="it-IT" b="1" i="1" u="sng" dirty="0"/>
              <a:t>: </a:t>
            </a:r>
            <a:r>
              <a:rPr lang="it-IT" dirty="0"/>
              <a:t>allinea il testo al centro e aggiunge spazio sotto il pulsante.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b="1" i="1" u="sng" dirty="0"/>
          </a:p>
          <a:p>
            <a:r>
              <a:rPr lang="it-IT" b="1" i="1" u="sng" dirty="0" err="1"/>
              <a:t>Footer</a:t>
            </a:r>
            <a:r>
              <a:rPr lang="it-IT" b="1" i="1" u="sng" dirty="0"/>
              <a:t>: </a:t>
            </a:r>
            <a:r>
              <a:rPr lang="it-IT" dirty="0"/>
              <a:t>centra il testo, aggiunge spazio sopra (25px) e sotto (15px), aggiunge un bordo 	verde </a:t>
            </a:r>
            <a:r>
              <a:rPr lang="it-IT" i="1" dirty="0"/>
              <a:t>(#6da544) </a:t>
            </a:r>
            <a:r>
              <a:rPr lang="it-IT" dirty="0"/>
              <a:t>sopra il </a:t>
            </a:r>
            <a:r>
              <a:rPr lang="it-IT" dirty="0" err="1"/>
              <a:t>footer</a:t>
            </a:r>
            <a:r>
              <a:rPr lang="it-IT" dirty="0"/>
              <a:t>, imposta il colore del testo di nero </a:t>
            </a:r>
            <a:r>
              <a:rPr lang="it-IT" i="1" dirty="0"/>
              <a:t>(#24301f) </a:t>
            </a:r>
            <a:r>
              <a:rPr lang="it-IT" dirty="0"/>
              <a:t>e 	rimpicciolisce il testo a 0.95rem.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E557648-D701-DEE7-A904-7B6124938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82056" cy="6858000"/>
          </a:xfrm>
          <a:prstGeom prst="rect">
            <a:avLst/>
          </a:prstGeom>
        </p:spPr>
      </p:pic>
      <p:sp>
        <p:nvSpPr>
          <p:cNvPr id="9" name="Parentesi graffa chiusa 8">
            <a:extLst>
              <a:ext uri="{FF2B5EF4-FFF2-40B4-BE49-F238E27FC236}">
                <a16:creationId xmlns:a16="http://schemas.microsoft.com/office/drawing/2014/main" id="{16CAB721-4C3B-F637-6D6E-477865DC1EA3}"/>
              </a:ext>
            </a:extLst>
          </p:cNvPr>
          <p:cNvSpPr/>
          <p:nvPr/>
        </p:nvSpPr>
        <p:spPr>
          <a:xfrm>
            <a:off x="3235684" y="550580"/>
            <a:ext cx="403860" cy="203387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46278BC7-AEC4-1B73-F953-92514DE425FF}"/>
              </a:ext>
            </a:extLst>
          </p:cNvPr>
          <p:cNvSpPr/>
          <p:nvPr/>
        </p:nvSpPr>
        <p:spPr>
          <a:xfrm>
            <a:off x="3235684" y="2776255"/>
            <a:ext cx="403860" cy="1040095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Parentesi graffa chiusa 11">
            <a:extLst>
              <a:ext uri="{FF2B5EF4-FFF2-40B4-BE49-F238E27FC236}">
                <a16:creationId xmlns:a16="http://schemas.microsoft.com/office/drawing/2014/main" id="{13304A36-08C8-AEC3-248E-3E87904E416F}"/>
              </a:ext>
            </a:extLst>
          </p:cNvPr>
          <p:cNvSpPr/>
          <p:nvPr/>
        </p:nvSpPr>
        <p:spPr>
          <a:xfrm>
            <a:off x="3235684" y="4090705"/>
            <a:ext cx="403860" cy="868645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Parentesi graffa chiusa 12">
            <a:extLst>
              <a:ext uri="{FF2B5EF4-FFF2-40B4-BE49-F238E27FC236}">
                <a16:creationId xmlns:a16="http://schemas.microsoft.com/office/drawing/2014/main" id="{B9C72D42-CBF3-F27C-13CD-451ED288727F}"/>
              </a:ext>
            </a:extLst>
          </p:cNvPr>
          <p:cNvSpPr/>
          <p:nvPr/>
        </p:nvSpPr>
        <p:spPr>
          <a:xfrm>
            <a:off x="3235684" y="5233705"/>
            <a:ext cx="403860" cy="1446495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234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310666-8A88-4568-88E9-37A4FEE54971}"/>
              </a:ext>
            </a:extLst>
          </p:cNvPr>
          <p:cNvSpPr txBox="1"/>
          <p:nvPr/>
        </p:nvSpPr>
        <p:spPr>
          <a:xfrm>
            <a:off x="5303245" y="0"/>
            <a:ext cx="688875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b="1" i="1" u="sng" dirty="0"/>
          </a:p>
          <a:p>
            <a:r>
              <a:rPr lang="it-IT" b="1" i="1" u="sng" dirty="0"/>
              <a:t>@media: </a:t>
            </a:r>
            <a:r>
              <a:rPr lang="it-IT" dirty="0"/>
              <a:t>regola applicata solo su schermi di piccole dimensioni, sotto i 	700px.</a:t>
            </a:r>
          </a:p>
          <a:p>
            <a:endParaRPr lang="it-IT" dirty="0"/>
          </a:p>
          <a:p>
            <a:endParaRPr lang="it-IT" b="1" i="1" u="sng" dirty="0"/>
          </a:p>
          <a:p>
            <a:endParaRPr lang="it-IT" b="1" i="1" u="sng" dirty="0"/>
          </a:p>
          <a:p>
            <a:r>
              <a:rPr lang="it-IT" b="1" i="1" u="sng" dirty="0" err="1"/>
              <a:t>Header</a:t>
            </a:r>
            <a:r>
              <a:rPr lang="it-IT" b="1" i="1" u="sng" dirty="0"/>
              <a:t> h1: </a:t>
            </a:r>
            <a:r>
              <a:rPr lang="it-IT" dirty="0"/>
              <a:t>vengono resi più piccoli con un 1.9rem.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/>
              <a:t>Reports-</a:t>
            </a:r>
            <a:r>
              <a:rPr lang="it-IT" b="1" i="1" u="sng" dirty="0" err="1"/>
              <a:t>section</a:t>
            </a:r>
            <a:r>
              <a:rPr lang="it-IT" b="1" i="1" u="sng" dirty="0"/>
              <a:t>:</a:t>
            </a:r>
            <a:r>
              <a:rPr lang="it-IT" dirty="0"/>
              <a:t> la griglia viene trasformata in un’unica colonna. 			Quindi avremo i report uno sotto l’altro e non più 		affiancati.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 err="1"/>
              <a:t>Description</a:t>
            </a:r>
            <a:r>
              <a:rPr lang="it-IT" b="1" i="1" u="sng" dirty="0"/>
              <a:t>-one, </a:t>
            </a:r>
            <a:r>
              <a:rPr lang="it-IT" b="1" i="1" u="sng" dirty="0" err="1"/>
              <a:t>description-two</a:t>
            </a:r>
            <a:r>
              <a:rPr lang="it-IT" b="1" i="1" u="sng" dirty="0"/>
              <a:t> e report-card: </a:t>
            </a:r>
          </a:p>
          <a:p>
            <a:r>
              <a:rPr lang="it-IT" dirty="0"/>
              <a:t>	vengono ridotti gli spazi dei box per adattarli meglio allo 	schermo più piccolo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Qui finisce il CSS e la chiusura del </a:t>
            </a:r>
            <a:r>
              <a:rPr lang="it-IT" i="1" dirty="0"/>
              <a:t>‘head’.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8C8D54E-148F-91F4-C29A-6B3F25D75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20040" cy="6858000"/>
          </a:xfrm>
          <a:prstGeom prst="rect">
            <a:avLst/>
          </a:prstGeom>
        </p:spPr>
      </p:pic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47C75E63-FC2A-7CD4-E1A3-E4966B8365C1}"/>
              </a:ext>
            </a:extLst>
          </p:cNvPr>
          <p:cNvSpPr/>
          <p:nvPr/>
        </p:nvSpPr>
        <p:spPr>
          <a:xfrm>
            <a:off x="4899384" y="2850105"/>
            <a:ext cx="403860" cy="1040095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2F4C8345-A65F-F1B8-1EA3-337AC07F0BC2}"/>
              </a:ext>
            </a:extLst>
          </p:cNvPr>
          <p:cNvSpPr/>
          <p:nvPr/>
        </p:nvSpPr>
        <p:spPr>
          <a:xfrm>
            <a:off x="4655852" y="4128805"/>
            <a:ext cx="403860" cy="1821145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B4EAFF4-B593-AFC3-B14E-8674F1AE1849}"/>
              </a:ext>
            </a:extLst>
          </p:cNvPr>
          <p:cNvCxnSpPr/>
          <p:nvPr/>
        </p:nvCxnSpPr>
        <p:spPr>
          <a:xfrm flipV="1">
            <a:off x="3892550" y="565150"/>
            <a:ext cx="1092200" cy="368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AED6F766-86E8-132E-DC41-61370A1A13EF}"/>
              </a:ext>
            </a:extLst>
          </p:cNvPr>
          <p:cNvSpPr/>
          <p:nvPr/>
        </p:nvSpPr>
        <p:spPr>
          <a:xfrm>
            <a:off x="4034790" y="1372905"/>
            <a:ext cx="403860" cy="982945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Parentesi quadra chiusa 10">
            <a:extLst>
              <a:ext uri="{FF2B5EF4-FFF2-40B4-BE49-F238E27FC236}">
                <a16:creationId xmlns:a16="http://schemas.microsoft.com/office/drawing/2014/main" id="{13B5E33B-6E07-D2B0-E4AE-EC9B189BAA60}"/>
              </a:ext>
            </a:extLst>
          </p:cNvPr>
          <p:cNvSpPr/>
          <p:nvPr/>
        </p:nvSpPr>
        <p:spPr>
          <a:xfrm>
            <a:off x="1727200" y="6108700"/>
            <a:ext cx="152400" cy="692150"/>
          </a:xfrm>
          <a:prstGeom prst="rightBracke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7237FA7-A0CA-93D9-53EF-092986A5AE73}"/>
              </a:ext>
            </a:extLst>
          </p:cNvPr>
          <p:cNvCxnSpPr>
            <a:cxnSpLocks/>
          </p:cNvCxnSpPr>
          <p:nvPr/>
        </p:nvCxnSpPr>
        <p:spPr>
          <a:xfrm>
            <a:off x="1980565" y="6454775"/>
            <a:ext cx="31207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45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50E963B-4C28-48D4-8FDC-CE545914D508}"/>
              </a:ext>
            </a:extLst>
          </p:cNvPr>
          <p:cNvSpPr txBox="1"/>
          <p:nvPr/>
        </p:nvSpPr>
        <p:spPr>
          <a:xfrm>
            <a:off x="5637229" y="-1"/>
            <a:ext cx="65547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u="sng" dirty="0"/>
              <a:t>Body:</a:t>
            </a:r>
            <a:r>
              <a:rPr lang="it-IT" dirty="0"/>
              <a:t> abbiamo tutto quello che sarà visibile nella pagina. </a:t>
            </a:r>
          </a:p>
          <a:p>
            <a:endParaRPr lang="it-IT" dirty="0"/>
          </a:p>
          <a:p>
            <a:r>
              <a:rPr lang="it-IT" b="1" i="1" u="sng" dirty="0" err="1"/>
              <a:t>Div</a:t>
            </a:r>
            <a:r>
              <a:rPr lang="it-IT" b="1" i="1" u="sng" dirty="0"/>
              <a:t> class=‘’page-container’’: </a:t>
            </a:r>
            <a:r>
              <a:rPr lang="it-IT" dirty="0"/>
              <a:t>Richiama la classe </a:t>
            </a:r>
            <a:r>
              <a:rPr lang="it-IT" i="1" dirty="0"/>
              <a:t>‘page-container’ </a:t>
            </a:r>
            <a:r>
              <a:rPr lang="it-IT" dirty="0"/>
              <a:t>per 		applicare lo stile CSS ed organizzare il contenuto 		della pagina.</a:t>
            </a:r>
          </a:p>
          <a:p>
            <a:endParaRPr lang="it-IT" dirty="0"/>
          </a:p>
          <a:p>
            <a:r>
              <a:rPr lang="it-IT" b="1" i="1" u="sng" dirty="0" err="1"/>
              <a:t>Header</a:t>
            </a:r>
            <a:r>
              <a:rPr lang="it-IT" b="1" i="1" u="sng" dirty="0"/>
              <a:t>:</a:t>
            </a:r>
            <a:r>
              <a:rPr lang="it-IT" dirty="0"/>
              <a:t> intestazione della pagina con titolo e sottotitolo.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 err="1"/>
              <a:t>Section</a:t>
            </a:r>
            <a:r>
              <a:rPr lang="it-IT" b="1" i="1" u="sng" dirty="0"/>
              <a:t> class=‘’</a:t>
            </a:r>
            <a:r>
              <a:rPr lang="it-IT" b="1" i="1" u="sng" dirty="0" err="1"/>
              <a:t>description</a:t>
            </a:r>
            <a:r>
              <a:rPr lang="it-IT" b="1" i="1" u="sng" dirty="0"/>
              <a:t>-one’’: </a:t>
            </a:r>
            <a:r>
              <a:rPr lang="it-IT" dirty="0"/>
              <a:t>Richiama la classe </a:t>
            </a:r>
          </a:p>
          <a:p>
            <a:r>
              <a:rPr lang="it-IT" dirty="0"/>
              <a:t>		</a:t>
            </a:r>
            <a:r>
              <a:rPr lang="it-IT" i="1" dirty="0"/>
              <a:t>‘</a:t>
            </a:r>
            <a:r>
              <a:rPr lang="it-IT" i="1" dirty="0" err="1"/>
              <a:t>description</a:t>
            </a:r>
            <a:r>
              <a:rPr lang="it-IT" i="1" dirty="0"/>
              <a:t>-one’ </a:t>
            </a:r>
            <a:r>
              <a:rPr lang="it-IT" dirty="0"/>
              <a:t>per applicare lo stile al titolo e 		ai vari paragrafi.</a:t>
            </a:r>
          </a:p>
          <a:p>
            <a:endParaRPr lang="it-IT" dirty="0"/>
          </a:p>
          <a:p>
            <a:r>
              <a:rPr lang="it-IT" b="1" i="1" u="sng" dirty="0"/>
              <a:t>h1: </a:t>
            </a:r>
            <a:r>
              <a:rPr lang="it-IT" dirty="0"/>
              <a:t>titolo della pagina.</a:t>
            </a:r>
          </a:p>
          <a:p>
            <a:endParaRPr lang="it-IT" dirty="0"/>
          </a:p>
          <a:p>
            <a:r>
              <a:rPr lang="it-IT" b="1" i="1" u="sng" dirty="0"/>
              <a:t>h2: </a:t>
            </a:r>
            <a:r>
              <a:rPr lang="it-IT" dirty="0"/>
              <a:t>titoli con grandezza minore.</a:t>
            </a:r>
          </a:p>
          <a:p>
            <a:endParaRPr lang="it-IT" dirty="0"/>
          </a:p>
          <a:p>
            <a:r>
              <a:rPr lang="it-IT" b="1" i="1" u="sng" dirty="0"/>
              <a:t>p:</a:t>
            </a:r>
            <a:r>
              <a:rPr lang="it-IT" dirty="0"/>
              <a:t> paragrafi della pagina.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165BD11-6FCA-DD48-FE28-19303815C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37229" cy="6858000"/>
          </a:xfrm>
          <a:prstGeom prst="rect">
            <a:avLst/>
          </a:prstGeom>
        </p:spPr>
      </p:pic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39AEEFFF-DE79-E3AA-42C8-5AEEEC1779F4}"/>
              </a:ext>
            </a:extLst>
          </p:cNvPr>
          <p:cNvSpPr/>
          <p:nvPr/>
        </p:nvSpPr>
        <p:spPr>
          <a:xfrm>
            <a:off x="3191234" y="2165350"/>
            <a:ext cx="403860" cy="53105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66BBB1B-2941-C2EC-3DA1-E8D36E5B2865}"/>
              </a:ext>
            </a:extLst>
          </p:cNvPr>
          <p:cNvCxnSpPr/>
          <p:nvPr/>
        </p:nvCxnSpPr>
        <p:spPr>
          <a:xfrm flipV="1">
            <a:off x="1054100" y="273050"/>
            <a:ext cx="4400550" cy="273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097FEC74-F416-D8E5-A5D6-0C4308FCEE17}"/>
              </a:ext>
            </a:extLst>
          </p:cNvPr>
          <p:cNvCxnSpPr>
            <a:cxnSpLocks/>
          </p:cNvCxnSpPr>
          <p:nvPr/>
        </p:nvCxnSpPr>
        <p:spPr>
          <a:xfrm flipV="1">
            <a:off x="2546350" y="819150"/>
            <a:ext cx="2832100" cy="63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A22381F-1089-23CA-1E3F-0C23A2425DCE}"/>
              </a:ext>
            </a:extLst>
          </p:cNvPr>
          <p:cNvCxnSpPr>
            <a:cxnSpLocks/>
          </p:cNvCxnSpPr>
          <p:nvPr/>
        </p:nvCxnSpPr>
        <p:spPr>
          <a:xfrm>
            <a:off x="1422400" y="1365250"/>
            <a:ext cx="3956050" cy="146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96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BF00E7C-8441-4C1A-B737-AC1B8668A95D}"/>
              </a:ext>
            </a:extLst>
          </p:cNvPr>
          <p:cNvSpPr txBox="1"/>
          <p:nvPr/>
        </p:nvSpPr>
        <p:spPr>
          <a:xfrm>
            <a:off x="4626457" y="0"/>
            <a:ext cx="756554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u="sng" dirty="0" err="1"/>
              <a:t>Section</a:t>
            </a:r>
            <a:r>
              <a:rPr lang="it-IT" b="1" i="1" u="sng" dirty="0"/>
              <a:t> class=«</a:t>
            </a:r>
            <a:r>
              <a:rPr lang="it-IT" b="1" i="1" u="sng" dirty="0" err="1"/>
              <a:t>description-two</a:t>
            </a:r>
            <a:r>
              <a:rPr lang="it-IT" b="1" i="1" u="sng" dirty="0"/>
              <a:t>»: </a:t>
            </a:r>
            <a:r>
              <a:rPr lang="it-IT" dirty="0"/>
              <a:t>Richiama la classe </a:t>
            </a:r>
            <a:r>
              <a:rPr lang="it-IT" i="1" dirty="0"/>
              <a:t>‘</a:t>
            </a:r>
            <a:r>
              <a:rPr lang="it-IT" i="1" dirty="0" err="1"/>
              <a:t>description</a:t>
            </a:r>
            <a:r>
              <a:rPr lang="it-IT" i="1" dirty="0"/>
              <a:t>-one’ </a:t>
            </a:r>
            <a:r>
              <a:rPr lang="it-IT" dirty="0"/>
              <a:t>per 			applicare lo stile al titolo.</a:t>
            </a:r>
          </a:p>
          <a:p>
            <a:endParaRPr lang="it-IT" dirty="0"/>
          </a:p>
          <a:p>
            <a:r>
              <a:rPr lang="it-IT" b="1" i="1" u="sng" dirty="0" err="1"/>
              <a:t>Ul</a:t>
            </a:r>
            <a:r>
              <a:rPr lang="it-IT" b="1" i="1" u="sng" dirty="0"/>
              <a:t> class=«list»: </a:t>
            </a:r>
            <a:r>
              <a:rPr lang="it-IT" dirty="0"/>
              <a:t>si imposta una lista puntata e la classe list serve ad applicare lo 			stile.</a:t>
            </a:r>
          </a:p>
          <a:p>
            <a:endParaRPr lang="it-IT" dirty="0"/>
          </a:p>
          <a:p>
            <a:r>
              <a:rPr lang="it-IT" dirty="0"/>
              <a:t>Con </a:t>
            </a:r>
            <a:r>
              <a:rPr lang="it-IT" b="1" i="1" u="sng" dirty="0"/>
              <a:t>‘&lt;li&gt;’ </a:t>
            </a:r>
            <a:r>
              <a:rPr lang="it-IT" dirty="0"/>
              <a:t>si crea una riga per la lista.</a:t>
            </a:r>
          </a:p>
          <a:p>
            <a:endParaRPr lang="it-IT" dirty="0"/>
          </a:p>
          <a:p>
            <a:r>
              <a:rPr lang="it-IT" dirty="0"/>
              <a:t>Con </a:t>
            </a:r>
            <a:r>
              <a:rPr lang="it-IT" b="1" i="1" u="sng" dirty="0"/>
              <a:t>‘&lt;strong&gt;’ </a:t>
            </a:r>
            <a:r>
              <a:rPr lang="it-IT" dirty="0"/>
              <a:t>si mette in grassetto, in questo caso si evidenzia solo la prima parola.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i="1" u="sng" dirty="0" err="1"/>
              <a:t>Section</a:t>
            </a:r>
            <a:r>
              <a:rPr lang="it-IT" b="1" i="1" u="sng" dirty="0"/>
              <a:t> class=«report-</a:t>
            </a:r>
            <a:r>
              <a:rPr lang="it-IT" b="1" i="1" u="sng" dirty="0" err="1"/>
              <a:t>section</a:t>
            </a:r>
            <a:r>
              <a:rPr lang="it-IT" b="1" i="1" u="sng" dirty="0"/>
              <a:t>»: </a:t>
            </a:r>
            <a:r>
              <a:rPr lang="it-IT" dirty="0"/>
              <a:t>la sezione dedicata ai report. Viene richiamata 			la classe </a:t>
            </a:r>
            <a:r>
              <a:rPr lang="it-IT" i="1" dirty="0"/>
              <a:t>‘report-</a:t>
            </a:r>
            <a:r>
              <a:rPr lang="it-IT" i="1" dirty="0" err="1"/>
              <a:t>section</a:t>
            </a:r>
            <a:r>
              <a:rPr lang="it-IT" i="1" dirty="0"/>
              <a:t>’ </a:t>
            </a:r>
            <a:r>
              <a:rPr lang="it-IT" dirty="0"/>
              <a:t>per creare le 2 colonne.</a:t>
            </a:r>
          </a:p>
          <a:p>
            <a:endParaRPr lang="it-IT" dirty="0"/>
          </a:p>
          <a:p>
            <a:r>
              <a:rPr lang="it-IT" b="1" i="1" u="sng" dirty="0" err="1"/>
              <a:t>Div</a:t>
            </a:r>
            <a:r>
              <a:rPr lang="it-IT" b="1" i="1" u="sng" dirty="0"/>
              <a:t> class=«report-card»:</a:t>
            </a:r>
            <a:r>
              <a:rPr lang="it-IT" dirty="0"/>
              <a:t> viene richiamata la classe </a:t>
            </a:r>
            <a:r>
              <a:rPr lang="it-IT" i="1" dirty="0"/>
              <a:t>‘report-card’ </a:t>
            </a:r>
            <a:r>
              <a:rPr lang="it-IT" dirty="0"/>
              <a:t>che dà lo stile 			al box.</a:t>
            </a:r>
          </a:p>
          <a:p>
            <a:endParaRPr lang="it-IT" dirty="0"/>
          </a:p>
          <a:p>
            <a:r>
              <a:rPr lang="it-IT" b="1" i="1" u="sng" dirty="0"/>
              <a:t>h3: </a:t>
            </a:r>
            <a:r>
              <a:rPr lang="it-IT" dirty="0"/>
              <a:t>Abbiamo il titolo del report ed il paragrafo con una breve didascalia.</a:t>
            </a:r>
          </a:p>
          <a:p>
            <a:endParaRPr lang="it-IT" dirty="0"/>
          </a:p>
          <a:p>
            <a:r>
              <a:rPr lang="en-US" b="1" i="1" u="sng" dirty="0"/>
              <a:t>&lt;a class="button" </a:t>
            </a:r>
            <a:r>
              <a:rPr lang="en-US" b="1" i="1" u="sng" dirty="0" err="1"/>
              <a:t>href</a:t>
            </a:r>
            <a:r>
              <a:rPr lang="en-US" b="1" i="1" u="sng" dirty="0"/>
              <a:t>="file/report-1.pdf" download&gt;DOWNLOAD&lt;/a&gt;:</a:t>
            </a:r>
          </a:p>
          <a:p>
            <a:r>
              <a:rPr lang="en-US" dirty="0"/>
              <a:t>Il link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trasformato</a:t>
            </a:r>
            <a:r>
              <a:rPr lang="en-US" dirty="0"/>
              <a:t> in </a:t>
            </a:r>
            <a:r>
              <a:rPr lang="en-US" dirty="0" err="1"/>
              <a:t>pulsante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CSS,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dato</a:t>
            </a:r>
            <a:r>
              <a:rPr lang="en-US" dirty="0"/>
              <a:t> il </a:t>
            </a:r>
            <a:r>
              <a:rPr lang="en-US" dirty="0" err="1"/>
              <a:t>riferimento</a:t>
            </a:r>
            <a:r>
              <a:rPr lang="en-US" dirty="0"/>
              <a:t> del file da </a:t>
            </a:r>
            <a:r>
              <a:rPr lang="en-US" dirty="0" err="1"/>
              <a:t>scaricare</a:t>
            </a:r>
            <a:r>
              <a:rPr lang="en-US" dirty="0"/>
              <a:t> e con </a:t>
            </a:r>
            <a:r>
              <a:rPr lang="en-US" i="1" dirty="0"/>
              <a:t>‘download’ </a:t>
            </a:r>
            <a:r>
              <a:rPr lang="en-US" dirty="0" err="1"/>
              <a:t>dico</a:t>
            </a:r>
            <a:r>
              <a:rPr lang="en-US" dirty="0"/>
              <a:t> al browser </a:t>
            </a:r>
            <a:r>
              <a:rPr lang="en-US" dirty="0" err="1"/>
              <a:t>che</a:t>
            </a:r>
            <a:r>
              <a:rPr lang="en-US" dirty="0"/>
              <a:t> il file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scaricato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farlo</a:t>
            </a:r>
            <a:r>
              <a:rPr lang="en-US" dirty="0"/>
              <a:t> </a:t>
            </a:r>
            <a:r>
              <a:rPr lang="en-US" dirty="0" err="1"/>
              <a:t>aprire</a:t>
            </a:r>
            <a:r>
              <a:rPr lang="en-US" dirty="0"/>
              <a:t> come pdf.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9B911DE-0DDA-B6B0-78C9-8525CF569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68977" cy="6858000"/>
          </a:xfrm>
          <a:prstGeom prst="rect">
            <a:avLst/>
          </a:prstGeom>
        </p:spPr>
      </p:pic>
      <p:sp>
        <p:nvSpPr>
          <p:cNvPr id="6" name="Parentesi graffa chiusa 5">
            <a:extLst>
              <a:ext uri="{FF2B5EF4-FFF2-40B4-BE49-F238E27FC236}">
                <a16:creationId xmlns:a16="http://schemas.microsoft.com/office/drawing/2014/main" id="{71A18B16-90E0-0036-E379-297FFA332461}"/>
              </a:ext>
            </a:extLst>
          </p:cNvPr>
          <p:cNvSpPr/>
          <p:nvPr/>
        </p:nvSpPr>
        <p:spPr>
          <a:xfrm>
            <a:off x="4222597" y="1066800"/>
            <a:ext cx="403860" cy="2527300"/>
          </a:xfrm>
          <a:prstGeom prst="rightBrace">
            <a:avLst>
              <a:gd name="adj1" fmla="val 8333"/>
              <a:gd name="adj2" fmla="val 40026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EDED511-33AD-7628-6CDC-9D59D2604358}"/>
              </a:ext>
            </a:extLst>
          </p:cNvPr>
          <p:cNvCxnSpPr/>
          <p:nvPr/>
        </p:nvCxnSpPr>
        <p:spPr>
          <a:xfrm flipV="1">
            <a:off x="2901950" y="3752850"/>
            <a:ext cx="1409700" cy="50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A787849-2533-9180-922D-66D2C3FE912D}"/>
              </a:ext>
            </a:extLst>
          </p:cNvPr>
          <p:cNvCxnSpPr/>
          <p:nvPr/>
        </p:nvCxnSpPr>
        <p:spPr>
          <a:xfrm flipV="1">
            <a:off x="2901950" y="241300"/>
            <a:ext cx="1473200" cy="279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5FF84068-9696-17BE-16B6-149966A90A35}"/>
              </a:ext>
            </a:extLst>
          </p:cNvPr>
          <p:cNvCxnSpPr/>
          <p:nvPr/>
        </p:nvCxnSpPr>
        <p:spPr>
          <a:xfrm flipV="1">
            <a:off x="1993900" y="958850"/>
            <a:ext cx="2381250" cy="44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Parentesi graffa chiusa 14">
            <a:extLst>
              <a:ext uri="{FF2B5EF4-FFF2-40B4-BE49-F238E27FC236}">
                <a16:creationId xmlns:a16="http://schemas.microsoft.com/office/drawing/2014/main" id="{BBA40B9E-560C-5B56-6B9C-215C699191DC}"/>
              </a:ext>
            </a:extLst>
          </p:cNvPr>
          <p:cNvSpPr/>
          <p:nvPr/>
        </p:nvSpPr>
        <p:spPr>
          <a:xfrm>
            <a:off x="4068774" y="4883150"/>
            <a:ext cx="403860" cy="1079500"/>
          </a:xfrm>
          <a:prstGeom prst="rightBrace">
            <a:avLst>
              <a:gd name="adj1" fmla="val 8333"/>
              <a:gd name="adj2" fmla="val 40026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76B5849-42D2-22C6-641F-7DC566E05846}"/>
              </a:ext>
            </a:extLst>
          </p:cNvPr>
          <p:cNvCxnSpPr>
            <a:cxnSpLocks/>
          </p:cNvCxnSpPr>
          <p:nvPr/>
        </p:nvCxnSpPr>
        <p:spPr>
          <a:xfrm flipV="1">
            <a:off x="2482850" y="4343400"/>
            <a:ext cx="1941677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Parentesi graffa chiusa 18">
            <a:extLst>
              <a:ext uri="{FF2B5EF4-FFF2-40B4-BE49-F238E27FC236}">
                <a16:creationId xmlns:a16="http://schemas.microsoft.com/office/drawing/2014/main" id="{275507A9-B22A-5A5B-A2D3-8F1133639422}"/>
              </a:ext>
            </a:extLst>
          </p:cNvPr>
          <p:cNvSpPr/>
          <p:nvPr/>
        </p:nvSpPr>
        <p:spPr>
          <a:xfrm>
            <a:off x="3971290" y="6178550"/>
            <a:ext cx="403860" cy="549275"/>
          </a:xfrm>
          <a:prstGeom prst="rightBrace">
            <a:avLst>
              <a:gd name="adj1" fmla="val 8333"/>
              <a:gd name="adj2" fmla="val 49438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2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BD96B9C2-6BFD-1E6E-B25D-62E18CD4E31E}"/>
              </a:ext>
            </a:extLst>
          </p:cNvPr>
          <p:cNvSpPr txBox="1"/>
          <p:nvPr/>
        </p:nvSpPr>
        <p:spPr>
          <a:xfrm>
            <a:off x="5174937" y="0"/>
            <a:ext cx="701706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u="sng" dirty="0"/>
              <a:t>Div class=‘’report-card’’: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creato</a:t>
            </a:r>
            <a:r>
              <a:rPr lang="en-GB" dirty="0"/>
              <a:t> il secondo box con la </a:t>
            </a:r>
            <a:r>
              <a:rPr lang="en-GB" dirty="0" err="1"/>
              <a:t>classe</a:t>
            </a:r>
            <a:r>
              <a:rPr lang="en-GB" dirty="0"/>
              <a:t> 			</a:t>
            </a:r>
            <a:r>
              <a:rPr lang="en-GB" i="1" dirty="0"/>
              <a:t>‘report-card’.</a:t>
            </a:r>
          </a:p>
          <a:p>
            <a:endParaRPr lang="en-GB" dirty="0"/>
          </a:p>
          <a:p>
            <a:r>
              <a:rPr lang="en-GB" b="1" i="1" u="sng" dirty="0"/>
              <a:t>Div, h3, p: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usato</a:t>
            </a:r>
            <a:r>
              <a:rPr lang="en-GB" dirty="0"/>
              <a:t> un </a:t>
            </a:r>
            <a:r>
              <a:rPr lang="en-GB" dirty="0" err="1"/>
              <a:t>contenitore</a:t>
            </a:r>
            <a:r>
              <a:rPr lang="en-GB" dirty="0"/>
              <a:t> per </a:t>
            </a:r>
            <a:r>
              <a:rPr lang="en-GB" dirty="0" err="1"/>
              <a:t>raggruppare</a:t>
            </a:r>
            <a:r>
              <a:rPr lang="en-GB" dirty="0"/>
              <a:t> il </a:t>
            </a:r>
            <a:r>
              <a:rPr lang="en-GB" dirty="0" err="1"/>
              <a:t>titolo</a:t>
            </a:r>
            <a:r>
              <a:rPr lang="en-GB" dirty="0"/>
              <a:t> e la </a:t>
            </a:r>
            <a:r>
              <a:rPr lang="en-GB" dirty="0" err="1"/>
              <a:t>descrizione</a:t>
            </a:r>
            <a:r>
              <a:rPr lang="en-GB" dirty="0"/>
              <a:t> del </a:t>
            </a:r>
            <a:r>
              <a:rPr lang="en-GB" dirty="0" err="1"/>
              <a:t>paragrafo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r>
              <a:rPr lang="en-US" b="1" i="1" u="sng" dirty="0"/>
              <a:t>&lt;a class="button" </a:t>
            </a:r>
            <a:r>
              <a:rPr lang="en-US" b="1" i="1" u="sng" dirty="0" err="1"/>
              <a:t>href</a:t>
            </a:r>
            <a:r>
              <a:rPr lang="en-US" b="1" i="1" u="sng" dirty="0"/>
              <a:t>="file/report-2.pdf" download="report-sostenibilita-2024.pdf"&gt;DOWNLOAD&lt;/a&gt;:</a:t>
            </a:r>
          </a:p>
          <a:p>
            <a:r>
              <a:rPr lang="en-US" dirty="0"/>
              <a:t>	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creato</a:t>
            </a:r>
            <a:r>
              <a:rPr lang="en-US" dirty="0"/>
              <a:t> un </a:t>
            </a:r>
            <a:r>
              <a:rPr lang="en-US" dirty="0" err="1"/>
              <a:t>pulsante</a:t>
            </a:r>
            <a:r>
              <a:rPr lang="en-US" dirty="0"/>
              <a:t> per il download a cui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applicato</a:t>
            </a:r>
            <a:r>
              <a:rPr lang="en-US" dirty="0"/>
              <a:t> 	lo stile della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i="1" dirty="0"/>
              <a:t>‘button’, </a:t>
            </a:r>
            <a:r>
              <a:rPr lang="en-US" i="1" dirty="0" err="1"/>
              <a:t>href</a:t>
            </a:r>
            <a:r>
              <a:rPr lang="en-US" i="1" dirty="0"/>
              <a:t> </a:t>
            </a:r>
            <a:r>
              <a:rPr lang="en-US" dirty="0"/>
              <a:t>indica dove é </a:t>
            </a:r>
            <a:r>
              <a:rPr lang="en-US" dirty="0" err="1"/>
              <a:t>contenuto</a:t>
            </a:r>
            <a:r>
              <a:rPr lang="en-US" dirty="0"/>
              <a:t> il file 	PDF da </a:t>
            </a:r>
            <a:r>
              <a:rPr lang="en-US" dirty="0" err="1"/>
              <a:t>scaricare</a:t>
            </a:r>
            <a:r>
              <a:rPr lang="en-US" dirty="0"/>
              <a:t>. </a:t>
            </a:r>
          </a:p>
          <a:p>
            <a:r>
              <a:rPr lang="en-US" dirty="0"/>
              <a:t>	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ho </a:t>
            </a:r>
            <a:r>
              <a:rPr lang="en-US" dirty="0" err="1"/>
              <a:t>usato</a:t>
            </a:r>
            <a:r>
              <a:rPr lang="en-US" dirty="0"/>
              <a:t> </a:t>
            </a:r>
            <a:r>
              <a:rPr lang="en-US" i="1" dirty="0"/>
              <a:t>‘download=‘’report-</a:t>
            </a:r>
            <a:r>
              <a:rPr lang="en-US" i="1" dirty="0" err="1"/>
              <a:t>sostenibilitá</a:t>
            </a:r>
            <a:r>
              <a:rPr lang="en-US" i="1" dirty="0"/>
              <a:t>-	2024.pdf’’</a:t>
            </a:r>
            <a:r>
              <a:rPr lang="en-US" dirty="0"/>
              <a:t> , </a:t>
            </a:r>
            <a:r>
              <a:rPr lang="en-US" dirty="0" err="1"/>
              <a:t>che</a:t>
            </a:r>
            <a:r>
              <a:rPr lang="en-US" dirty="0"/>
              <a:t>  indica al browser di </a:t>
            </a:r>
            <a:r>
              <a:rPr lang="en-US" dirty="0" err="1"/>
              <a:t>scaricare</a:t>
            </a:r>
            <a:r>
              <a:rPr lang="en-US" dirty="0"/>
              <a:t> il file con </a:t>
            </a:r>
            <a:r>
              <a:rPr lang="en-US" dirty="0" err="1"/>
              <a:t>quel</a:t>
            </a:r>
            <a:r>
              <a:rPr lang="en-US" dirty="0"/>
              <a:t> 	</a:t>
            </a:r>
            <a:r>
              <a:rPr lang="en-US" dirty="0" err="1"/>
              <a:t>nome</a:t>
            </a:r>
            <a:r>
              <a:rPr lang="en-US" dirty="0"/>
              <a:t> (’report-sostenibilitá-2024.pdf’).</a:t>
            </a:r>
          </a:p>
          <a:p>
            <a:endParaRPr lang="en-US" dirty="0"/>
          </a:p>
          <a:p>
            <a:r>
              <a:rPr lang="it-IT" b="1" i="1" u="sng" dirty="0" err="1"/>
              <a:t>section</a:t>
            </a:r>
            <a:r>
              <a:rPr lang="it-IT" b="1" i="1" u="sng" dirty="0"/>
              <a:t> class=‘’official-site-</a:t>
            </a:r>
            <a:r>
              <a:rPr lang="it-IT" b="1" i="1" u="sng" dirty="0" err="1"/>
              <a:t>section</a:t>
            </a:r>
            <a:r>
              <a:rPr lang="it-IT" b="1" i="1" u="sng" dirty="0"/>
              <a:t>’’: </a:t>
            </a:r>
            <a:r>
              <a:rPr lang="it-IT" dirty="0"/>
              <a:t>è la sezione per il collegamento al 		sito ufficiale.</a:t>
            </a:r>
          </a:p>
          <a:p>
            <a:r>
              <a:rPr lang="en-US" b="1" i="1" u="sng" dirty="0"/>
              <a:t>&lt;a class="button" </a:t>
            </a:r>
            <a:r>
              <a:rPr lang="en-US" b="1" i="1" u="sng" dirty="0" err="1"/>
              <a:t>href</a:t>
            </a:r>
            <a:r>
              <a:rPr lang="en-US" b="1" i="1" u="sng" dirty="0"/>
              <a:t>="https://www.planetfarms.ag/it" target="_blank" </a:t>
            </a:r>
            <a:r>
              <a:rPr lang="en-US" b="1" i="1" u="sng" dirty="0" err="1"/>
              <a:t>rel</a:t>
            </a:r>
            <a:r>
              <a:rPr lang="en-US" b="1" i="1" u="sng" dirty="0"/>
              <a:t>="</a:t>
            </a:r>
            <a:r>
              <a:rPr lang="en-US" b="1" i="1" u="sng" dirty="0" err="1"/>
              <a:t>noopener</a:t>
            </a:r>
            <a:r>
              <a:rPr lang="en-US" b="1" i="1" u="sng" dirty="0"/>
              <a:t> </a:t>
            </a:r>
            <a:r>
              <a:rPr lang="en-US" b="1" i="1" u="sng" dirty="0" err="1"/>
              <a:t>noreferrer</a:t>
            </a:r>
            <a:r>
              <a:rPr lang="en-US" b="1" i="1" u="sng" dirty="0"/>
              <a:t>"&gt;VISITA IL SITO PLANET FARMS&lt;/a&gt; </a:t>
            </a:r>
            <a:r>
              <a:rPr lang="it-IT" b="1" i="1" u="sng" dirty="0"/>
              <a:t>:  </a:t>
            </a:r>
            <a:r>
              <a:rPr lang="it-IT" dirty="0"/>
              <a:t>viene creato il pulsante con lo stesso stile degli altri, </a:t>
            </a:r>
            <a:r>
              <a:rPr lang="it-IT" i="1" dirty="0" err="1"/>
              <a:t>href</a:t>
            </a:r>
            <a:r>
              <a:rPr lang="it-IT" dirty="0"/>
              <a:t> contiene il link al sito. </a:t>
            </a:r>
            <a:r>
              <a:rPr lang="it-IT" i="1" dirty="0"/>
              <a:t>Target=‘’_blank’’ </a:t>
            </a:r>
            <a:r>
              <a:rPr lang="it-IT" dirty="0"/>
              <a:t>fa aprire il sito su una nuova pagina del browser.</a:t>
            </a:r>
          </a:p>
          <a:p>
            <a:r>
              <a:rPr lang="it-IT" i="1" dirty="0" err="1"/>
              <a:t>rel</a:t>
            </a:r>
            <a:r>
              <a:rPr lang="it-IT" i="1" dirty="0"/>
              <a:t>=‘’</a:t>
            </a:r>
            <a:r>
              <a:rPr lang="it-IT" i="1" dirty="0" err="1"/>
              <a:t>noopener</a:t>
            </a:r>
            <a:r>
              <a:rPr lang="it-IT" i="1" dirty="0"/>
              <a:t> </a:t>
            </a:r>
            <a:r>
              <a:rPr lang="it-IT" i="1" dirty="0" err="1"/>
              <a:t>noreferrer</a:t>
            </a:r>
            <a:r>
              <a:rPr lang="it-IT" i="1" dirty="0"/>
              <a:t>’’ </a:t>
            </a:r>
            <a:r>
              <a:rPr lang="it-IT" dirty="0"/>
              <a:t>migliora la sicurezza quando si apre un link esterno.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B4EE9DDB-EA86-5208-4FC5-B9954E1F3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174936" cy="6858000"/>
          </a:xfrm>
          <a:prstGeom prst="rect">
            <a:avLst/>
          </a:prstGeom>
        </p:spPr>
      </p:pic>
      <p:sp>
        <p:nvSpPr>
          <p:cNvPr id="5" name="Parentesi graffa chiusa 4">
            <a:extLst>
              <a:ext uri="{FF2B5EF4-FFF2-40B4-BE49-F238E27FC236}">
                <a16:creationId xmlns:a16="http://schemas.microsoft.com/office/drawing/2014/main" id="{F9588044-E445-34F1-4BD3-DDAFD911A50B}"/>
              </a:ext>
            </a:extLst>
          </p:cNvPr>
          <p:cNvSpPr/>
          <p:nvPr/>
        </p:nvSpPr>
        <p:spPr>
          <a:xfrm>
            <a:off x="4878714" y="1060450"/>
            <a:ext cx="403860" cy="1549400"/>
          </a:xfrm>
          <a:prstGeom prst="rightBrace">
            <a:avLst>
              <a:gd name="adj1" fmla="val 8333"/>
              <a:gd name="adj2" fmla="val 32787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Parentesi graffa chiusa 5">
            <a:extLst>
              <a:ext uri="{FF2B5EF4-FFF2-40B4-BE49-F238E27FC236}">
                <a16:creationId xmlns:a16="http://schemas.microsoft.com/office/drawing/2014/main" id="{C04E0337-3C1E-62C3-9FCE-F9E4DA327452}"/>
              </a:ext>
            </a:extLst>
          </p:cNvPr>
          <p:cNvSpPr/>
          <p:nvPr/>
        </p:nvSpPr>
        <p:spPr>
          <a:xfrm>
            <a:off x="4511997" y="3200400"/>
            <a:ext cx="403860" cy="8890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1767794-2210-1B63-C31B-4E79F081AF03}"/>
              </a:ext>
            </a:extLst>
          </p:cNvPr>
          <p:cNvCxnSpPr>
            <a:cxnSpLocks/>
          </p:cNvCxnSpPr>
          <p:nvPr/>
        </p:nvCxnSpPr>
        <p:spPr>
          <a:xfrm flipV="1">
            <a:off x="3873500" y="4679950"/>
            <a:ext cx="1207144" cy="527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Parentesi graffa chiusa 18">
            <a:extLst>
              <a:ext uri="{FF2B5EF4-FFF2-40B4-BE49-F238E27FC236}">
                <a16:creationId xmlns:a16="http://schemas.microsoft.com/office/drawing/2014/main" id="{73AF87E0-782D-1A32-112A-E97F7245016F}"/>
              </a:ext>
            </a:extLst>
          </p:cNvPr>
          <p:cNvSpPr/>
          <p:nvPr/>
        </p:nvSpPr>
        <p:spPr>
          <a:xfrm>
            <a:off x="4785691" y="5365750"/>
            <a:ext cx="403860" cy="8890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9046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4E588F4-F921-DBDF-7FC6-830F60194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837" cy="28448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03B58C-75CF-7EE0-38E7-0D3BAEA75FCD}"/>
              </a:ext>
            </a:extLst>
          </p:cNvPr>
          <p:cNvSpPr txBox="1"/>
          <p:nvPr/>
        </p:nvSpPr>
        <p:spPr>
          <a:xfrm>
            <a:off x="5384800" y="692150"/>
            <a:ext cx="64833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u="sng" dirty="0"/>
              <a:t>Footer: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finale della </a:t>
            </a:r>
            <a:r>
              <a:rPr lang="en-GB" dirty="0" err="1"/>
              <a:t>pagina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i="1" u="sng" dirty="0"/>
              <a:t>/div: </a:t>
            </a:r>
            <a:r>
              <a:rPr lang="en-GB" dirty="0" err="1"/>
              <a:t>chiude</a:t>
            </a:r>
            <a:r>
              <a:rPr lang="en-GB" dirty="0"/>
              <a:t> il </a:t>
            </a:r>
            <a:r>
              <a:rPr lang="en-GB" dirty="0" err="1"/>
              <a:t>contenitore</a:t>
            </a:r>
            <a:r>
              <a:rPr lang="en-GB" dirty="0"/>
              <a:t> </a:t>
            </a:r>
            <a:r>
              <a:rPr lang="en-GB" dirty="0" err="1"/>
              <a:t>dell’intera</a:t>
            </a:r>
            <a:r>
              <a:rPr lang="en-GB" dirty="0"/>
              <a:t> </a:t>
            </a:r>
            <a:r>
              <a:rPr lang="en-GB" dirty="0" err="1"/>
              <a:t>pagina</a:t>
            </a:r>
            <a:r>
              <a:rPr lang="en-GB" dirty="0"/>
              <a:t> </a:t>
            </a:r>
            <a:r>
              <a:rPr lang="en-GB" i="1" dirty="0"/>
              <a:t>(.page-container).</a:t>
            </a:r>
          </a:p>
          <a:p>
            <a:endParaRPr lang="en-GB" dirty="0"/>
          </a:p>
          <a:p>
            <a:r>
              <a:rPr lang="en-GB" b="1" i="1" u="sng" dirty="0"/>
              <a:t>/body:</a:t>
            </a:r>
            <a:r>
              <a:rPr lang="en-GB" dirty="0"/>
              <a:t> </a:t>
            </a:r>
            <a:r>
              <a:rPr lang="en-GB" dirty="0" err="1"/>
              <a:t>chiude</a:t>
            </a:r>
            <a:r>
              <a:rPr lang="en-GB" dirty="0"/>
              <a:t> il </a:t>
            </a:r>
            <a:r>
              <a:rPr lang="en-GB" dirty="0" err="1"/>
              <a:t>corpo</a:t>
            </a:r>
            <a:r>
              <a:rPr lang="en-GB" dirty="0"/>
              <a:t> della </a:t>
            </a:r>
            <a:r>
              <a:rPr lang="en-GB" dirty="0" err="1"/>
              <a:t>pagina</a:t>
            </a:r>
            <a:r>
              <a:rPr lang="en-GB" dirty="0"/>
              <a:t>, </a:t>
            </a:r>
            <a:r>
              <a:rPr lang="en-GB" dirty="0" err="1"/>
              <a:t>ovvero</a:t>
            </a:r>
            <a:r>
              <a:rPr lang="en-GB" dirty="0"/>
              <a:t> la </a:t>
            </a:r>
            <a:r>
              <a:rPr lang="en-GB" dirty="0" err="1"/>
              <a:t>parte</a:t>
            </a:r>
            <a:r>
              <a:rPr lang="en-GB" dirty="0"/>
              <a:t> </a:t>
            </a:r>
            <a:r>
              <a:rPr lang="en-GB" dirty="0" err="1"/>
              <a:t>visibile</a:t>
            </a:r>
            <a:r>
              <a:rPr lang="en-GB" dirty="0"/>
              <a:t> del </a:t>
            </a:r>
            <a:r>
              <a:rPr lang="en-GB" dirty="0" err="1"/>
              <a:t>sito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i="1" u="sng" dirty="0"/>
              <a:t>/html: </a:t>
            </a:r>
            <a:r>
              <a:rPr lang="en-GB" dirty="0" err="1"/>
              <a:t>chiude</a:t>
            </a:r>
            <a:r>
              <a:rPr lang="en-GB" dirty="0"/>
              <a:t> </a:t>
            </a:r>
            <a:r>
              <a:rPr lang="en-GB" dirty="0" err="1"/>
              <a:t>tutto</a:t>
            </a:r>
            <a:r>
              <a:rPr lang="en-GB" dirty="0"/>
              <a:t> il </a:t>
            </a:r>
            <a:r>
              <a:rPr lang="en-GB" dirty="0" err="1"/>
              <a:t>documento</a:t>
            </a:r>
            <a:r>
              <a:rPr lang="en-GB" dirty="0"/>
              <a:t> </a:t>
            </a:r>
            <a:r>
              <a:rPr lang="en-GB" dirty="0" err="1"/>
              <a:t>definitivamente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5" name="Parentesi graffa chiusa 4">
            <a:extLst>
              <a:ext uri="{FF2B5EF4-FFF2-40B4-BE49-F238E27FC236}">
                <a16:creationId xmlns:a16="http://schemas.microsoft.com/office/drawing/2014/main" id="{D2065D9C-3104-E2C0-7CDA-C6199BA6EE5A}"/>
              </a:ext>
            </a:extLst>
          </p:cNvPr>
          <p:cNvSpPr/>
          <p:nvPr/>
        </p:nvSpPr>
        <p:spPr>
          <a:xfrm>
            <a:off x="4929707" y="469900"/>
            <a:ext cx="403860" cy="104775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8802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1475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Alessio</dc:creator>
  <cp:lastModifiedBy>Alessio</cp:lastModifiedBy>
  <cp:revision>19</cp:revision>
  <dcterms:created xsi:type="dcterms:W3CDTF">2026-04-28T17:42:36Z</dcterms:created>
  <dcterms:modified xsi:type="dcterms:W3CDTF">2026-04-29T20:14:59Z</dcterms:modified>
</cp:coreProperties>
</file>